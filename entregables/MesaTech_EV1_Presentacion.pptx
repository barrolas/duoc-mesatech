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73" r:id="rId25"/>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Giannina · 30 s</a:t>
            </a:r>
          </a:p>
          <a:p/>
          <a:p>
            <a:r>
              <a:t>DECIR</a:t>
            </a:r>
          </a:p>
          <a:p>
            <a:r>
              <a:t>Buenos días. Somos MesaTech Cloud. MesaTech atiende soporte tecnológico: el cliente hoy escribe por correo, llama o manda un chat, y el operador no ve esas solicitudes en un solo lugar. Nosotros armamos un portal web. La persona entra con su cuenta, deja una solicitud y esa solicitud queda con un estado, un dueño y un historial. En estos minutos vamos a mostrar dos cosas. Cómo se configuró esa puerta: quién entra, por dónde entra y dónde corre. Y, con capturas, que funciona. No vamos a abrir la aplicación ahora.</a:t>
            </a:r>
          </a:p>
          <a:p/>
          <a:p>
            <a:r>
              <a:t>SI PREGUNTAN</a:t>
            </a:r>
          </a:p>
          <a:p>
            <a:r>
              <a:t>Presenta el producto, no el curso. Habla despacio. Un segundo después de «MesaTech Cloud». Si piden ver la app, otro día. El front puede ir en localhost; la API pasa por el Gateway. Giannina abre. Nico cierra.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Nico · 30 s</a:t>
            </a:r>
          </a:p>
          <a:p/>
          <a:p>
            <a:r>
              <a:t>DECIR</a:t>
            </a:r>
          </a:p>
          <a:p>
            <a:r>
              <a:t>El orden es el del producto, no una lista para recitar. Primero el caso: por qué el soporte está partido y qué portal proponemos. Después el mapa: React no llama a los servidores; habla solo con el Gateway. Luego cómo se configuró, en tres capas: Entra ID, la API en AWS, y EC2 con la base. Al final, React funcionando: un login, tres perfiles, y las pruebas que ya se ven en las capturas. Cada bloque tiene dos o tres prints. Skarlett empieza con el problema.</a:t>
            </a:r>
          </a:p>
          <a:p/>
          <a:p>
            <a:r>
              <a:t>SI PREGUNTAN</a:t>
            </a:r>
          </a:p>
          <a:p>
            <a:r>
              <a:t>No enumeres del uno al ocho. Di el camino: caso, mapa, configuración, React. Si preguntan un detalle, «lo vemos en la captura de esa capa». Nico toma acá y le pasa a Skarlett.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Skarlett · 35 s</a:t>
            </a:r>
          </a:p>
          <a:p/>
          <a:p>
            <a:r>
              <a:t>DECIR</a:t>
            </a:r>
          </a:p>
          <a:p>
            <a:r>
              <a:t>Hoy el soporte de MesaTech no tiene un solo registro. El cliente escribe por correo, llama por teléfono o manda un chat. El mismo incidente queda en tres hilos distintos. El operador no ve una cola: no sabe cuántas solicitudes hay abiertas ni en qué etapa está cada una. Tampoco hay un dueño claro ni una fecha de último cambio. El cliente, entonces, vuelve a preguntar: en qué quedó mi solicitud. El problema no es que falte un sistema más. El problema es que no hay un estado común que todos puedan consultar.</a:t>
            </a:r>
          </a:p>
          <a:p/>
          <a:p>
            <a:r>
              <a:t>SI PREGUNTAN</a:t>
            </a:r>
          </a:p>
          <a:p>
            <a:r>
              <a:t>Trazabilidad: estado, dueño y fecha de un ticket sin reconstruir el hilo. MesaTech es una PYME de soporte. Skarlett habla el caso porque redactó el informe. Si te aceleras, para en «tres hilos» y mira las tres tarjetas.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Skarlett · 35 s</a:t>
            </a:r>
          </a:p>
          <a:p/>
          <a:p>
            <a:r>
              <a:t>DECIR</a:t>
            </a:r>
          </a:p>
          <a:p>
            <a:r>
              <a:t>La propuesta es un portal autenticado con Entra ID. Tres perfiles: cliente, operador y administrador. El cliente crea y ve solo las suyas. El operador avanza la cola. El administrador mantiene el catálogo y también ve la bandeja. Cada solicitud nace con categoría —INCIDENTE, CONSULTA o SUGERENCIA— y con prioridad —BAJA, MEDIA o URGENTE—. Y tiene un flujo de estados: CREADA, ASIGNADA, EN_PROCESO, RESUELTA y CERRADA. También existe CANCELADA, para un caso que no se va a atender. A partir de acá no hablamos más del caso: mostramos cómo se configuró esa puerta y cómo se ve en React.</a:t>
            </a:r>
          </a:p>
          <a:p/>
          <a:p>
            <a:r>
              <a:t>SI PREGUNTAN</a:t>
            </a:r>
          </a:p>
          <a:p>
            <a:r>
              <a:t>No recites los cinco estados dos veces. Una pasada basta. Si preguntan por CANCELADA: anula un caso que no se atiende; no es el cierre normal. La evidencia de configuración viene en las láminas siguientes.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Nico · 45 s</a:t>
            </a:r>
          </a:p>
          <a:p/>
          <a:p>
            <a:r>
              <a:t>DECIR</a:t>
            </a:r>
          </a:p>
          <a:p>
            <a:r>
              <a:t>Este es el mapa de lo que configuramos. Lo recorro una vez, de la persona hasta la base. La persona abre React. El login no es nuestro: es Microsoft Entra ID. React obtiene un Access Token y lo manda solo al API Gateway. El Gateway es la única puerta pública. Desde ahí la petición llega al BFF, en el puerto 8080. El BFF no tiene base de datos: orquesta. Si el front pide solicitudes, llama al microservicio 8081. Si pide catálogo, llama al 8082. Postgres está en Docker, en otra EC2, y solo esos microservicios le escriben. Ahora vienen las capturas de cada capa. No vamos a dictar IPs.</a:t>
            </a:r>
          </a:p>
          <a:p/>
          <a:p>
            <a:r>
              <a:t>SI PREGUNTAN</a:t>
            </a:r>
          </a:p>
          <a:p>
            <a:r>
              <a:t>BFF, Backend for Frontend: orquesta lo que necesita la UI y aplica la política. No persiste tickets. Separar catálogo y solicitudes es un límite de dominio. Tres EC2: datos, microservicios y BFF. NIC-01 muestra solo la EC2 de datos; no digas que se ven las tres. Señalá las cajas, no leas la lámina entera.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Ari · 40 s</a:t>
            </a:r>
          </a:p>
          <a:p/>
          <a:p>
            <a:r>
              <a:t>DECIR</a:t>
            </a:r>
          </a:p>
          <a:p>
            <a:r>
              <a:t>La identidad se configuró en dos registros. Primero la SPA, que es el React. Después la API, que se llama api-cloud-native, con el scope access_as_user. Ese scope es el permiso que pide React para hablar a nombre de la persona. En esta captura de la izquierda está el consentimiento de administrador: el tenant autoriza ese permiso una vez, no cada usuario. A la derecha hay tres usuarios de prueba, cada uno con un rol: cliente, operador o administrador. Ese rol viaja dentro del Access Token. El BFF lo lee y decide qué puede hacer esa persona. El ID Token no se manda al Gateway: solo describe a quién inició sesión.</a:t>
            </a:r>
          </a:p>
          <a:p/>
          <a:p>
            <a:r>
              <a:t>SI PREGUNTAN</a:t>
            </a:r>
          </a:p>
          <a:p>
            <a:r>
              <a:t>Access Token llama APIs. ID Token describe a la persona. iss es Entra; aud es api-cloud-native. No leer IDs ni contraseñas. El Word de Ari tiene redirect y token v2; en la oral bastan estas dos capturas. Si te apuras, para en el consentimiento y después en los roles.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Nico · 40 s</a:t>
            </a:r>
          </a:p>
          <a:p/>
          <a:p>
            <a:r>
              <a:t>DECIR</a:t>
            </a:r>
          </a:p>
          <a:p>
            <a:r>
              <a:t>Ari dejó en el BFF el issuer y el audience que deben coincidir con Entra. Esta captura es mía. Hice curl al puerto 8080 sin encabezado Authorization, sin Bearer. La respuesta es 401. Eso significa: no sé quién eres. Hay dos puertas, y las dos se piden. El JWT Authorizer corta en el Gateway, en el borde. El BFF es Resource Server: vuelve a validar firma, emisor, audiencia y expiración. No se fía solo de que el Gateway haya dejado pasar. 401 es identidad ausente o inválida. 403 es otra cosa: te conozco y no puedes. Esa diferencia la vamos a ver en React.</a:t>
            </a:r>
          </a:p>
          <a:p/>
          <a:p>
            <a:r>
              <a:t>SI PREGUNTAN</a:t>
            </a:r>
          </a:p>
          <a:p>
            <a:r>
              <a:t>JWT: token firmado, no una sesión. Bearer: Authorization: Bearer más el token. Token inválido o expirado también da 401. Esa prueba no está en Evidencias/Ninna; si preguntan, está en el informe. No leas el curl línea por línea: di 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Giannina · 40 s</a:t>
            </a:r>
          </a:p>
          <a:p/>
          <a:p>
            <a:r>
              <a:t>DECIR</a:t>
            </a:r>
          </a:p>
          <a:p>
            <a:r>
              <a:t>Paso a AWS. El primer paso fue crear una sola HTTP API, con el nombre mesatech-ev1, en la región us-east-1: la misma de las EC2. En esta captura se ve la API creada. React no guarda la IP de ningún servidor. React usa la Invoke URL del Gateway. Esa URL es execute-api.amazonaws.com. En el front, la variable REACT_APP_API_BASE_URL apunta ahí. El Gateway reenvía al BFF, puerto 8080. Nunca a la IP de solicitudes ni a la de catálogo. Si el microservicio cambia de instancia, el front no se toca: sigue hablando con la misma puerta.</a:t>
            </a:r>
          </a:p>
          <a:p/>
          <a:p>
            <a:r>
              <a:t>SI PREGUNTAN</a:t>
            </a:r>
          </a:p>
          <a:p>
            <a:r>
              <a:t>HTTP API no es REST API clásica. Si preguntan por qué no REST API: menos costo y JWT Authorizer nativo, suficiente para EV1. No dictes la Invoke URL completa. Un segundo mirando la captura, después la frase del BFF.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Giannina · 35 s</a:t>
            </a:r>
          </a:p>
          <a:p/>
          <a:p>
            <a:r>
              <a:t>DECIR</a:t>
            </a:r>
          </a:p>
          <a:p>
            <a:r>
              <a:t>Segundo paso: las rutas. Solicitudes, catálogo y usuario salen por esa misma HTTP API. No hay un Gateway para cada microservicio. En la captura de la izquierda están las rutas. En la de la derecha, la integración: HTTP hacia el BFF, puerto 8080. El path no se reescribe. Si React pide /v1/solicitudes, el BFF recibe /v1/solicitudes. También existe /api/usuario: le dice a React quién está logueado y con qué rol. Conviven v1 y v2. React usa v1, que es un arreglo. v2 envuelve version, usuario y solicitudes, para no romper el front el día que el contrato crezca.</a:t>
            </a:r>
          </a:p>
          <a:p/>
          <a:p>
            <a:r>
              <a:t>SI PREGUNTAN</a:t>
            </a:r>
          </a:p>
          <a:p>
            <a:r>
              <a:t>Path sin reescritura: el Gateway no traduce la URL. No hay print de v1/v2 en Evidencias; el contrato está en el informe. Señala izquierda rutas, derecha integración. No leas todos los paths.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Giannina · 45 s</a:t>
            </a:r>
          </a:p>
          <a:p/>
          <a:p>
            <a:r>
              <a:t>DECIR</a:t>
            </a:r>
          </a:p>
          <a:p>
            <a:r>
              <a:t>Tercer paso: el perímetro. Las rutas de negocio llevan JWT Authorizer. Sin Bearer, el Gateway responde 401 y la petición no llega al BFF. Eso se configura en la consola; acá se ve el resultado. Ahora la derecha: ya está funcionando. El navegador está en localhost, el React de desarrollo. La API está en AWS. El Network muestra dos llamadas. OPTIONS 204: el navegador pregunta si ese origen puede mandar Authorization; el Gateway dice que sí. GET 200: la llamada de negocio respondió bien. CORS no es un login. CORS es la regla del navegador. Nosotros la configuramos; esta captura es la prueba de que quedó bien.</a:t>
            </a:r>
          </a:p>
          <a:p/>
          <a:p>
            <a:r>
              <a:t>SI PREGUNTAN</a:t>
            </a:r>
          </a:p>
          <a:p>
            <a:r>
              <a:t>Preflight OPTIONS: el navegador pregunta antes del GET. 204 permitido. 200 negocio ok. La consola CORS es NIN-05 en Evidencias; no hace falta abrirla. El Authorizer corta en el borde; el BFF vuelve a validar. Para dos segundos en el Network: 204 y 200 se tienen que 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Nico · 35 s</a:t>
            </a:r>
          </a:p>
          <a:p/>
          <a:p>
            <a:r>
              <a:t>DECIR</a:t>
            </a:r>
          </a:p>
          <a:p>
            <a:r>
              <a:t>En EC2 se levantaron tres capas, no una sola. El BFF está en 8080. Ahí llega el Gateway. El BFF es Resource Server y no tiene JPA: no escribe base. A la derecha, los microservicios: solicitudes en 8081 y catálogo en 8082. Ellos sí persisten. El Gateway apunta al 8080, no al 8081. Si alguien llama al 8081 desde Internet, no debería entrar: eso lo vemos en red. No recitamos IPs. La guía permite una sola instancia; separamos para aislar datos, microservicios y BFF.</a:t>
            </a:r>
          </a:p>
          <a:p/>
          <a:p>
            <a:r>
              <a:t>SI PREGUNTAN</a:t>
            </a:r>
          </a:p>
          <a:p>
            <a:r>
              <a:t>JPA es acceso a base desde Java. NIC-01 no muestra las tres instancias: solo la de datos. NIC-05 sí muestra 8080, 8081 y 8082 escuchando. Señala BFF, después MS. No inventes un diagrama de las tres EC2 si no está en lámina.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Nico · 35 s</a:t>
            </a:r>
          </a:p>
          <a:p/>
          <a:p>
            <a:r>
              <a:t>DECIR</a:t>
            </a:r>
          </a:p>
          <a:p>
            <a:r>
              <a:t>La persistencia es PostgreSQL 16, en Docker, dentro de EC2. La guía lo permite; no usamos RDS. Hay dos bases: solicitudes y catálogo, porque son dos dominios. Cambiar una prioridad del catálogo no se mezcla con cambiar el estado de un ticket. El BFF no escribe en ninguna de las dos. A la derecha ya se ve el funcionamiento. Skarlett consultó de nuevo y los folios 0001 y 0002 siguen en CREADA. CREADA es el estado inicial: el ticket nació y todavía nadie lo tomó. Si se apagara el front, esos registros seguirían en Postgres.</a:t>
            </a:r>
          </a:p>
          <a:p/>
          <a:p>
            <a:r>
              <a:t>SI PREGUNTAN</a:t>
            </a:r>
          </a:p>
          <a:p>
            <a:r>
              <a:t>Folio: identificador visible. Docker versus RDS: misma persistencia, más simple en Learner Lab. La captura de UI es de Skarlett; Nico habla la base. Un segundo en Docker, un segundo en los folios.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Nico · 35 s</a:t>
            </a:r>
          </a:p>
          <a:p/>
          <a:p>
            <a:r>
              <a:t>DECIR</a:t>
            </a:r>
          </a:p>
          <a:p>
            <a:r>
              <a:t>Se cerró la red. Hay que separar dos pruebas, porque las dos se piden. Primera: desde Internet, el puerto 8081 da timeout. La petición ni entra a solicitudes. Segunda: el puerto 5432 de Postgres solo acepta tráfico del security group de los microservicios. El security group es el firewall de la instancia. 401 es la aplicación diciendo no sé quién eres. Timeout es la red diciendo este puerto no es público. No es lo mismo. El BFF recibe al Gateway en 8080; los microservicios y la base no están abiertos a Internet.</a:t>
            </a:r>
          </a:p>
          <a:p/>
          <a:p>
            <a:r>
              <a:t>SI PREGUNTAN</a:t>
            </a:r>
          </a:p>
          <a:p>
            <a:r>
              <a:t>0.0.0.0/0 significaría abierto a Internet; MS y base no lo están. NIC-09 tiene SG de BFF, MS y DB. En lámina está el de la base. Si preguntan por el BFF: recibe al Gateway, no a cualquier cliente en 8081.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Skarlett · 45 s</a:t>
            </a:r>
          </a:p>
          <a:p/>
          <a:p>
            <a:r>
              <a:t>DECIR</a:t>
            </a:r>
          </a:p>
          <a:p>
            <a:r>
              <a:t>Así se ve funcionando. Ari deja el login de la izquierda: no es un usuario que hayamos inventado en React. MSAL abre Entra y la persona entra con la cuenta del tenant. Cuando vuelve, React ya tiene nombre, rol y el botón Cerrar sesión. A la derecha está el cliente. Solo ve Mis solicitudes. Puede crear y consultar las suyas. No ve la bandeja general ni el catálogo. Un mismo login, tres experiencias. El operador vería la cola y los estados. El administrador vería eso más el catálogo. El menú se arma con el rol que viene en el token, no con un dato que escriba el front.</a:t>
            </a:r>
          </a:p>
          <a:p/>
          <a:p>
            <a:r>
              <a:t>SI PREGUNTAN</a:t>
            </a:r>
          </a:p>
          <a:p>
            <a:r>
              <a:t>SKA-UI02 es el formulario de alta, pero es demo local sin Entra: no la pongas. Acá se usa ska-cliente, ya autenticado. Si te aceleras, para en el login y después en «solo ve Mis solicitudes».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Skarlett · 45 s</a:t>
            </a:r>
          </a:p>
          <a:p/>
          <a:p>
            <a:r>
              <a:t>DECIR</a:t>
            </a:r>
          </a:p>
          <a:p>
            <a:r>
              <a:t>Autenticado no es autorizado. Este cliente de la izquierda ya tiene un JWT válido: Entra lo conoce. Aun así pide GET /v1/solicitudes, la bandeja de todos. El BFF responde 403. Te conozco y no puedes. El cliente solo puede /v1/solicitudes/mias. A la derecha, el administrador sí ve bandeja y catálogo. El operador comparte la bandeja; no mantiene el catálogo. Hay una tercera regla, de negocio: 409. No se pasa a RESUELTA si el ticket no está EN_PROCESO. No se pasa a CERRADA si no está RESUELTA. 401 es sin identidad. 403 es rol. 409 es el flujo de estados.</a:t>
            </a:r>
          </a:p>
          <a:p/>
          <a:p>
            <a:r>
              <a:t>SI PREGUNTAN</a:t>
            </a:r>
          </a:p>
          <a:p>
            <a:r>
              <a:t>SKA-UI04 y SKA-UI05 son demo local: no las mostremos. El 403 y el admin de esta lámina sí van con Entra. La UI también limita el selector. Si preguntan por 409 sin captura autenticada: documentado; no hay esa captura en la oral.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Equipo · 35 s</a:t>
            </a:r>
          </a:p>
          <a:p/>
          <a:p>
            <a:r>
              <a:t>DECIR</a:t>
            </a:r>
          </a:p>
          <a:p>
            <a:r>
              <a:t>La guía pide nueve chequeos. En esta oral ya se vieron con print, no de memoria. Nico: 401 del BFF sin token, y timeout a 8081. Giannina: GET 200 y CORS, OPTIONS 204, en el Network. Skarlett: 403 del cliente a la bandeja, y los folios que siguen en CREADA. Ari: el token sale de Entra, con rol. Lo que no tiene captura en esta presentación está escrito en el informe. Si preguntan por un chequeo que no está en lámina, la frase es: está documentado; no trajimos esa captura autenticada a la oral.</a:t>
            </a:r>
          </a:p>
          <a:p/>
          <a:p>
            <a:r>
              <a:t>SI PREGUNTAN</a:t>
            </a:r>
          </a:p>
          <a:p>
            <a:r>
              <a:t>Los nueve: sin sesión; 401 Gateway; 401 JWT inválido; 200; 403; CORS; 409; v1/v2; persistencia. No hay en Evidencias: 401 Gateway, JWT inválido y cuerpo v1/v2. 409 y bandeja operador son demo local. No recites los nueve: nombra los que sí se vieron.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Nico · 30 s</a:t>
            </a:r>
          </a:p>
          <a:p/>
          <a:p>
            <a:r>
              <a:t>DECIR</a:t>
            </a:r>
          </a:p>
          <a:p>
            <a:r>
              <a:t>Cierro con tres cosas que quedan demostradas, no con un resumen largo. Identidad: Entra emite el JWT y, sin token, Gateway y BFF responden 401. Perímetro: React solo habla con el Gateway; los microservicios no son públicos. Dominio: 403 es rol, 409 es regla de estado, y Postgres persiste. Ari configuró Entra. Giannina, el Gateway. Yo, EC2 y la red. Skarlett, React y las reglas. Si quieren ver la aplicación corriendo, se coordina otro día. Preguntas.</a:t>
            </a:r>
          </a:p>
          <a:p/>
          <a:p>
            <a:r>
              <a:t>SI PREGUNTAN</a:t>
            </a:r>
          </a:p>
          <a:p>
            <a:r>
              <a:t>No abrir la app ahora. El MVP no es un ITSM completo; cumple el flujo mínimo de la EP1. Después de «Preguntas», cállense y esperen. Si nadie pregunta, no rellenen.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HABLA · Ari · 35 s</a:t>
            </a:r>
          </a:p>
          <a:p/>
          <a:p>
            <a:r>
              <a:t>DECIR</a:t>
            </a:r>
          </a:p>
          <a:p>
            <a:r>
              <a:t>El primer paso de identidad fue registrar la API. En Entra ID se creó una aplicación nueva, no la SPA: se llama api-cloud-native. En la captura de la izquierda está el formulario: un solo inquilino, y sin URI de redirección, porque esta app no es el login del navegador. A la derecha se creó el URI de id. de aplicación: api:// más el Id. de aplicación. Ese URI es el prefijo de los scopes. El consentimiento y los roles vienen en la lámina siguiente.</a:t>
            </a:r>
          </a:p>
          <a:p/>
          <a:p>
            <a:r>
              <a:t>SI PREGUNTAN</a:t>
            </a:r>
          </a:p>
          <a:p>
            <a:r>
              <a:t>No leas los UUID. Redirect URI vacío a propósito: vive en la SPA. El URI se acepta el que propone Azure. Evidencia: Word de Ari, Parte A, Registro de Aplicación y Creación de URI de id de Apps. Si preguntan por el audience: es el Id. de aplicación de esta API, no el de React.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composed.png"/>
          <p:cNvPicPr>
            <a:picLocks noChangeAspect="1"/>
          </p:cNvPicPr>
          <p:nvPr/>
        </p:nvPicPr>
        <p:blipFill>
          <a:blip r:embed="rId2"/>
          <a:stretch>
            <a:fillRect/>
          </a:stretch>
        </p:blipFill>
        <p:spPr>
          <a:xfrm>
            <a:off x="0" y="0"/>
            <a:ext cx="12191695" cy="6858000"/>
          </a:xfrm>
          <a:prstGeom prst="rect">
            <a:avLst/>
          </a:prstGeom>
        </p:spPr>
      </p:pic>
      <p:pic>
        <p:nvPicPr>
          <p:cNvPr id="3" name="Picture 2" descr="duoc-uc-white.png"/>
          <p:cNvPicPr>
            <a:picLocks noChangeAspect="1"/>
          </p:cNvPicPr>
          <p:nvPr/>
        </p:nvPicPr>
        <p:blipFill>
          <a:blip r:embed="rId3"/>
          <a:stretch>
            <a:fillRect/>
          </a:stretch>
        </p:blipFill>
        <p:spPr>
          <a:xfrm>
            <a:off x="530352" y="310896"/>
            <a:ext cx="1417320" cy="384048"/>
          </a:xfrm>
          <a:prstGeom prst="rect">
            <a:avLst/>
          </a:prstGeom>
        </p:spPr>
      </p:pic>
      <p:sp>
        <p:nvSpPr>
          <p:cNvPr id="4" name="TextBox 3"/>
          <p:cNvSpPr txBox="1"/>
          <p:nvPr/>
        </p:nvSpPr>
        <p:spPr>
          <a:xfrm>
            <a:off x="6766560" y="347472"/>
            <a:ext cx="4937760" cy="329184"/>
          </a:xfrm>
          <a:prstGeom prst="rect">
            <a:avLst/>
          </a:prstGeom>
          <a:noFill/>
        </p:spPr>
        <p:txBody>
          <a:bodyPr wrap="square" anchor="ctr"/>
          <a:lstStyle/>
          <a:p>
            <a:pPr algn="r"/>
            <a:r>
              <a:rPr sz="1100" b="1">
                <a:solidFill>
                  <a:srgbClr val="C8DEDA"/>
                </a:solidFill>
                <a:latin typeface="Calibri"/>
              </a:rPr>
              <a:t>CANAL ÚNICO DE SOPORTE</a:t>
            </a:r>
          </a:p>
        </p:txBody>
      </p:sp>
      <p:pic>
        <p:nvPicPr>
          <p:cNvPr id="5" name="Picture 4" descr="logo-white.png"/>
          <p:cNvPicPr>
            <a:picLocks noChangeAspect="1"/>
          </p:cNvPicPr>
          <p:nvPr/>
        </p:nvPicPr>
        <p:blipFill>
          <a:blip r:embed="rId4"/>
          <a:stretch>
            <a:fillRect/>
          </a:stretch>
        </p:blipFill>
        <p:spPr>
          <a:xfrm>
            <a:off x="530352" y="1572768"/>
            <a:ext cx="530352" cy="530352"/>
          </a:xfrm>
          <a:prstGeom prst="rect">
            <a:avLst/>
          </a:prstGeom>
        </p:spPr>
      </p:pic>
      <p:sp>
        <p:nvSpPr>
          <p:cNvPr id="6" name="TextBox 5"/>
          <p:cNvSpPr txBox="1"/>
          <p:nvPr/>
        </p:nvSpPr>
        <p:spPr>
          <a:xfrm>
            <a:off x="530352" y="2304288"/>
            <a:ext cx="5852160" cy="292608"/>
          </a:xfrm>
          <a:prstGeom prst="rect">
            <a:avLst/>
          </a:prstGeom>
          <a:noFill/>
        </p:spPr>
        <p:txBody>
          <a:bodyPr wrap="square" anchor="t"/>
          <a:lstStyle/>
          <a:p>
            <a:pPr algn="l"/>
            <a:r>
              <a:rPr sz="1300" b="1">
                <a:solidFill>
                  <a:srgbClr val="2EC4B6"/>
                </a:solidFill>
                <a:latin typeface="Calibri"/>
              </a:rPr>
              <a:t>UNA SOLICITUD. UN ESTADO.</a:t>
            </a:r>
          </a:p>
        </p:txBody>
      </p:sp>
      <p:sp>
        <p:nvSpPr>
          <p:cNvPr id="7" name="TextBox 6"/>
          <p:cNvSpPr txBox="1"/>
          <p:nvPr/>
        </p:nvSpPr>
        <p:spPr>
          <a:xfrm>
            <a:off x="475488" y="2633472"/>
            <a:ext cx="6217920" cy="1691640"/>
          </a:xfrm>
          <a:prstGeom prst="rect">
            <a:avLst/>
          </a:prstGeom>
          <a:noFill/>
        </p:spPr>
        <p:txBody>
          <a:bodyPr wrap="square" anchor="t"/>
          <a:lstStyle/>
          <a:p>
            <a:pPr algn="l"/>
            <a:r>
              <a:rPr sz="5400" b="1">
                <a:solidFill>
                  <a:srgbClr val="FFFFFF"/>
                </a:solidFill>
                <a:latin typeface="Calibri"/>
              </a:rPr>
              <a:t>MesaTech
Cloud</a:t>
            </a:r>
          </a:p>
        </p:txBody>
      </p:sp>
      <p:sp>
        <p:nvSpPr>
          <p:cNvPr id="8" name="TextBox 7"/>
          <p:cNvSpPr txBox="1"/>
          <p:nvPr/>
        </p:nvSpPr>
        <p:spPr>
          <a:xfrm>
            <a:off x="530352" y="4462272"/>
            <a:ext cx="5852160" cy="329184"/>
          </a:xfrm>
          <a:prstGeom prst="rect">
            <a:avLst/>
          </a:prstGeom>
          <a:noFill/>
        </p:spPr>
        <p:txBody>
          <a:bodyPr wrap="square" anchor="t"/>
          <a:lstStyle/>
          <a:p>
            <a:pPr algn="l"/>
            <a:r>
              <a:rPr sz="1300" b="1">
                <a:solidFill>
                  <a:srgbClr val="2EC4B6"/>
                </a:solidFill>
                <a:latin typeface="Calibri"/>
              </a:rPr>
              <a:t>SOPORTE TECNOLÓGICO CENTRALIZADO</a:t>
            </a:r>
          </a:p>
        </p:txBody>
      </p:sp>
      <p:sp>
        <p:nvSpPr>
          <p:cNvPr id="9" name="Rectangle 8"/>
          <p:cNvSpPr/>
          <p:nvPr/>
        </p:nvSpPr>
        <p:spPr>
          <a:xfrm>
            <a:off x="530352" y="5742432"/>
            <a:ext cx="6035040" cy="12700"/>
          </a:xfrm>
          <a:prstGeom prst="rect">
            <a:avLst/>
          </a:prstGeom>
          <a:solidFill>
            <a:srgbClr val="5A7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5870448"/>
            <a:ext cx="7863840" cy="292608"/>
          </a:xfrm>
          <a:prstGeom prst="rect">
            <a:avLst/>
          </a:prstGeom>
          <a:noFill/>
        </p:spPr>
        <p:txBody>
          <a:bodyPr wrap="square" anchor="t"/>
          <a:lstStyle/>
          <a:p>
            <a:pPr algn="l"/>
            <a:r>
              <a:rPr sz="1200" b="0">
                <a:solidFill>
                  <a:srgbClr val="FFFFFF"/>
                </a:solidFill>
                <a:latin typeface="Calibri"/>
              </a:rPr>
              <a:t>Ari Araya   ·   Nicolas Barra   ·   Giannina Guerrero   ·   Skarlett Tropan</a:t>
            </a:r>
          </a:p>
        </p:txBody>
      </p:sp>
      <p:sp>
        <p:nvSpPr>
          <p:cNvPr id="11" name="TextBox 10"/>
          <p:cNvSpPr txBox="1"/>
          <p:nvPr/>
        </p:nvSpPr>
        <p:spPr>
          <a:xfrm>
            <a:off x="530352" y="6199632"/>
            <a:ext cx="6035040" cy="256032"/>
          </a:xfrm>
          <a:prstGeom prst="rect">
            <a:avLst/>
          </a:prstGeom>
          <a:noFill/>
        </p:spPr>
        <p:txBody>
          <a:bodyPr wrap="square" anchor="t"/>
          <a:lstStyle/>
          <a:p>
            <a:pPr algn="l"/>
            <a:r>
              <a:rPr sz="1200" b="0">
                <a:solidFill>
                  <a:srgbClr val="2EC4B6"/>
                </a:solidFill>
                <a:latin typeface="Calibri"/>
              </a:rPr>
              <a:t>Docente   Paulo Andrés Berríos Díaz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0A3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09728"/>
            <a:ext cx="5486400" cy="365760"/>
          </a:xfrm>
          <a:prstGeom prst="rect">
            <a:avLst/>
          </a:prstGeom>
          <a:noFill/>
        </p:spPr>
        <p:txBody>
          <a:bodyPr wrap="square" anchor="t"/>
          <a:lstStyle/>
          <a:p>
            <a:pPr algn="r"/>
            <a:r>
              <a:rPr sz="1300" b="1">
                <a:solidFill>
                  <a:srgbClr val="FFFFFF"/>
                </a:solidFill>
                <a:latin typeface="Calibri"/>
              </a:rPr>
              <a:t>MESATECH  CLOUD</a:t>
            </a:r>
          </a:p>
        </p:txBody>
      </p:sp>
      <p:sp>
        <p:nvSpPr>
          <p:cNvPr id="6" name="TextBox 5"/>
          <p:cNvSpPr txBox="1"/>
          <p:nvPr/>
        </p:nvSpPr>
        <p:spPr>
          <a:xfrm>
            <a:off x="7863840" y="109728"/>
            <a:ext cx="3931920" cy="365760"/>
          </a:xfrm>
          <a:prstGeom prst="rect">
            <a:avLst/>
          </a:prstGeom>
          <a:noFill/>
        </p:spPr>
        <p:txBody>
          <a:bodyPr wrap="square" anchor="ctr"/>
          <a:lstStyle/>
          <a:p>
            <a:pPr algn="r"/>
            <a:r>
              <a:rPr sz="1200" b="1">
                <a:solidFill>
                  <a:srgbClr val="2EC4B6"/>
                </a:solidFill>
                <a:latin typeface="Calibri"/>
              </a:rPr>
              <a:t>Agenda   ·   Nico</a:t>
            </a:r>
          </a:p>
        </p:txBody>
      </p:sp>
      <p:sp>
        <p:nvSpPr>
          <p:cNvPr id="7" name="TextBox 6"/>
          <p:cNvSpPr txBox="1"/>
          <p:nvPr/>
        </p:nvSpPr>
        <p:spPr>
          <a:xfrm>
            <a:off x="457200" y="868680"/>
            <a:ext cx="10972800" cy="274320"/>
          </a:xfrm>
          <a:prstGeom prst="rect">
            <a:avLst/>
          </a:prstGeom>
          <a:noFill/>
        </p:spPr>
        <p:txBody>
          <a:bodyPr wrap="square" anchor="t"/>
          <a:lstStyle/>
          <a:p>
            <a:pPr algn="l"/>
            <a:r>
              <a:rPr sz="1200" b="1">
                <a:solidFill>
                  <a:srgbClr val="2EC4B6"/>
                </a:solidFill>
                <a:latin typeface="Calibri"/>
              </a:rPr>
              <a:t>EL RECORRIDO</a:t>
            </a:r>
          </a:p>
        </p:txBody>
      </p:sp>
      <p:sp>
        <p:nvSpPr>
          <p:cNvPr id="8" name="TextBox 7"/>
          <p:cNvSpPr txBox="1"/>
          <p:nvPr/>
        </p:nvSpPr>
        <p:spPr>
          <a:xfrm>
            <a:off x="457200" y="1143000"/>
            <a:ext cx="10972800" cy="548640"/>
          </a:xfrm>
          <a:prstGeom prst="rect">
            <a:avLst/>
          </a:prstGeom>
          <a:noFill/>
        </p:spPr>
        <p:txBody>
          <a:bodyPr wrap="square" anchor="t"/>
          <a:lstStyle/>
          <a:p>
            <a:pPr algn="l"/>
            <a:r>
              <a:rPr sz="3200" b="1">
                <a:solidFill>
                  <a:srgbClr val="FFFFFF"/>
                </a:solidFill>
                <a:latin typeface="Calibri"/>
              </a:rPr>
              <a:t>Del caso al dato que persiste.</a:t>
            </a:r>
          </a:p>
        </p:txBody>
      </p:sp>
      <p:sp>
        <p:nvSpPr>
          <p:cNvPr id="9" name="Rounded Rectangle 8"/>
          <p:cNvSpPr/>
          <p:nvPr/>
        </p:nvSpPr>
        <p:spPr>
          <a:xfrm>
            <a:off x="457200" y="1965960"/>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75688"/>
            <a:ext cx="640080" cy="640080"/>
          </a:xfrm>
          <a:prstGeom prst="rect">
            <a:avLst/>
          </a:prstGeom>
          <a:noFill/>
        </p:spPr>
        <p:txBody>
          <a:bodyPr wrap="square" anchor="t"/>
          <a:lstStyle/>
          <a:p>
            <a:pPr algn="r"/>
            <a:r>
              <a:rPr sz="2000" b="1">
                <a:solidFill>
                  <a:srgbClr val="2EC4B6"/>
                </a:solidFill>
                <a:latin typeface="Calibri"/>
              </a:rPr>
              <a:t>01</a:t>
            </a:r>
          </a:p>
        </p:txBody>
      </p:sp>
      <p:sp>
        <p:nvSpPr>
          <p:cNvPr id="11" name="TextBox 10"/>
          <p:cNvSpPr txBox="1"/>
          <p:nvPr/>
        </p:nvSpPr>
        <p:spPr>
          <a:xfrm>
            <a:off x="1371600" y="2112264"/>
            <a:ext cx="4480560" cy="347472"/>
          </a:xfrm>
          <a:prstGeom prst="rect">
            <a:avLst/>
          </a:prstGeom>
          <a:noFill/>
        </p:spPr>
        <p:txBody>
          <a:bodyPr wrap="square" anchor="t"/>
          <a:lstStyle/>
          <a:p>
            <a:pPr algn="l"/>
            <a:r>
              <a:rPr sz="1600" b="1">
                <a:solidFill>
                  <a:srgbClr val="FFFFFF"/>
                </a:solidFill>
                <a:latin typeface="Calibri"/>
              </a:rPr>
              <a:t>Problema y propuesta</a:t>
            </a:r>
          </a:p>
        </p:txBody>
      </p:sp>
      <p:sp>
        <p:nvSpPr>
          <p:cNvPr id="12" name="TextBox 11"/>
          <p:cNvSpPr txBox="1"/>
          <p:nvPr/>
        </p:nvSpPr>
        <p:spPr>
          <a:xfrm>
            <a:off x="1371600" y="2441448"/>
            <a:ext cx="4480560" cy="292608"/>
          </a:xfrm>
          <a:prstGeom prst="rect">
            <a:avLst/>
          </a:prstGeom>
          <a:noFill/>
        </p:spPr>
        <p:txBody>
          <a:bodyPr wrap="square" anchor="t"/>
          <a:lstStyle/>
          <a:p>
            <a:pPr algn="l"/>
            <a:r>
              <a:rPr sz="1200" b="0">
                <a:solidFill>
                  <a:srgbClr val="E8FAF6"/>
                </a:solidFill>
                <a:latin typeface="Calibri"/>
              </a:rPr>
              <a:t>Un canal en vez de tres</a:t>
            </a:r>
          </a:p>
        </p:txBody>
      </p:sp>
      <p:sp>
        <p:nvSpPr>
          <p:cNvPr id="13" name="Rounded Rectangle 12"/>
          <p:cNvSpPr/>
          <p:nvPr/>
        </p:nvSpPr>
        <p:spPr>
          <a:xfrm>
            <a:off x="6309360" y="1965960"/>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75688"/>
            <a:ext cx="640080" cy="640080"/>
          </a:xfrm>
          <a:prstGeom prst="rect">
            <a:avLst/>
          </a:prstGeom>
          <a:noFill/>
        </p:spPr>
        <p:txBody>
          <a:bodyPr wrap="square" anchor="t"/>
          <a:lstStyle/>
          <a:p>
            <a:pPr algn="r"/>
            <a:r>
              <a:rPr sz="2000" b="1">
                <a:solidFill>
                  <a:srgbClr val="2EC4B6"/>
                </a:solidFill>
                <a:latin typeface="Calibri"/>
              </a:rPr>
              <a:t>02</a:t>
            </a:r>
          </a:p>
        </p:txBody>
      </p:sp>
      <p:sp>
        <p:nvSpPr>
          <p:cNvPr id="15" name="TextBox 14"/>
          <p:cNvSpPr txBox="1"/>
          <p:nvPr/>
        </p:nvSpPr>
        <p:spPr>
          <a:xfrm>
            <a:off x="7223760" y="2112264"/>
            <a:ext cx="4480560" cy="347472"/>
          </a:xfrm>
          <a:prstGeom prst="rect">
            <a:avLst/>
          </a:prstGeom>
          <a:noFill/>
        </p:spPr>
        <p:txBody>
          <a:bodyPr wrap="square" anchor="t"/>
          <a:lstStyle/>
          <a:p>
            <a:pPr algn="l"/>
            <a:r>
              <a:rPr sz="1600" b="1">
                <a:solidFill>
                  <a:srgbClr val="FFFFFF"/>
                </a:solidFill>
                <a:latin typeface="Calibri"/>
              </a:rPr>
              <a:t>Arquitectura</a:t>
            </a:r>
          </a:p>
        </p:txBody>
      </p:sp>
      <p:sp>
        <p:nvSpPr>
          <p:cNvPr id="16" name="TextBox 15"/>
          <p:cNvSpPr txBox="1"/>
          <p:nvPr/>
        </p:nvSpPr>
        <p:spPr>
          <a:xfrm>
            <a:off x="7223760" y="2441448"/>
            <a:ext cx="4480560" cy="292608"/>
          </a:xfrm>
          <a:prstGeom prst="rect">
            <a:avLst/>
          </a:prstGeom>
          <a:noFill/>
        </p:spPr>
        <p:txBody>
          <a:bodyPr wrap="square" anchor="t"/>
          <a:lstStyle/>
          <a:p>
            <a:pPr algn="l"/>
            <a:r>
              <a:rPr sz="1200" b="0">
                <a:solidFill>
                  <a:srgbClr val="E8FAF6"/>
                </a:solidFill>
                <a:latin typeface="Calibri"/>
              </a:rPr>
              <a:t>React solo consume el Gateway</a:t>
            </a:r>
          </a:p>
        </p:txBody>
      </p:sp>
      <p:sp>
        <p:nvSpPr>
          <p:cNvPr id="17" name="Rounded Rectangle 16"/>
          <p:cNvSpPr/>
          <p:nvPr/>
        </p:nvSpPr>
        <p:spPr>
          <a:xfrm>
            <a:off x="457200" y="3017520"/>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127248"/>
            <a:ext cx="640080" cy="640080"/>
          </a:xfrm>
          <a:prstGeom prst="rect">
            <a:avLst/>
          </a:prstGeom>
          <a:noFill/>
        </p:spPr>
        <p:txBody>
          <a:bodyPr wrap="square" anchor="t"/>
          <a:lstStyle/>
          <a:p>
            <a:pPr algn="r"/>
            <a:r>
              <a:rPr sz="2000" b="1">
                <a:solidFill>
                  <a:srgbClr val="2EC4B6"/>
                </a:solidFill>
                <a:latin typeface="Calibri"/>
              </a:rPr>
              <a:t>03</a:t>
            </a:r>
          </a:p>
        </p:txBody>
      </p:sp>
      <p:sp>
        <p:nvSpPr>
          <p:cNvPr id="19" name="TextBox 18"/>
          <p:cNvSpPr txBox="1"/>
          <p:nvPr/>
        </p:nvSpPr>
        <p:spPr>
          <a:xfrm>
            <a:off x="1371600" y="3163824"/>
            <a:ext cx="4480560" cy="347472"/>
          </a:xfrm>
          <a:prstGeom prst="rect">
            <a:avLst/>
          </a:prstGeom>
          <a:noFill/>
        </p:spPr>
        <p:txBody>
          <a:bodyPr wrap="square" anchor="t"/>
          <a:lstStyle/>
          <a:p>
            <a:pPr algn="l"/>
            <a:r>
              <a:rPr sz="1600" b="1">
                <a:solidFill>
                  <a:srgbClr val="FFFFFF"/>
                </a:solidFill>
                <a:latin typeface="Calibri"/>
              </a:rPr>
              <a:t>Identidad y JWT</a:t>
            </a:r>
          </a:p>
        </p:txBody>
      </p:sp>
      <p:sp>
        <p:nvSpPr>
          <p:cNvPr id="20" name="TextBox 19"/>
          <p:cNvSpPr txBox="1"/>
          <p:nvPr/>
        </p:nvSpPr>
        <p:spPr>
          <a:xfrm>
            <a:off x="1371600" y="3493008"/>
            <a:ext cx="4480560" cy="292608"/>
          </a:xfrm>
          <a:prstGeom prst="rect">
            <a:avLst/>
          </a:prstGeom>
          <a:noFill/>
        </p:spPr>
        <p:txBody>
          <a:bodyPr wrap="square" anchor="t"/>
          <a:lstStyle/>
          <a:p>
            <a:pPr algn="l"/>
            <a:r>
              <a:rPr sz="1200" b="0">
                <a:solidFill>
                  <a:srgbClr val="E8FAF6"/>
                </a:solidFill>
                <a:latin typeface="Calibri"/>
              </a:rPr>
              <a:t>Entra ID y 401 en el BFF</a:t>
            </a:r>
          </a:p>
        </p:txBody>
      </p:sp>
      <p:sp>
        <p:nvSpPr>
          <p:cNvPr id="21" name="Rounded Rectangle 20"/>
          <p:cNvSpPr/>
          <p:nvPr/>
        </p:nvSpPr>
        <p:spPr>
          <a:xfrm>
            <a:off x="6309360" y="3017520"/>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127248"/>
            <a:ext cx="640080" cy="640080"/>
          </a:xfrm>
          <a:prstGeom prst="rect">
            <a:avLst/>
          </a:prstGeom>
          <a:noFill/>
        </p:spPr>
        <p:txBody>
          <a:bodyPr wrap="square" anchor="t"/>
          <a:lstStyle/>
          <a:p>
            <a:pPr algn="r"/>
            <a:r>
              <a:rPr sz="2000" b="1">
                <a:solidFill>
                  <a:srgbClr val="2EC4B6"/>
                </a:solidFill>
                <a:latin typeface="Calibri"/>
              </a:rPr>
              <a:t>04</a:t>
            </a:r>
          </a:p>
        </p:txBody>
      </p:sp>
      <p:sp>
        <p:nvSpPr>
          <p:cNvPr id="23" name="TextBox 22"/>
          <p:cNvSpPr txBox="1"/>
          <p:nvPr/>
        </p:nvSpPr>
        <p:spPr>
          <a:xfrm>
            <a:off x="7223760" y="3163824"/>
            <a:ext cx="4480560" cy="347472"/>
          </a:xfrm>
          <a:prstGeom prst="rect">
            <a:avLst/>
          </a:prstGeom>
          <a:noFill/>
        </p:spPr>
        <p:txBody>
          <a:bodyPr wrap="square" anchor="t"/>
          <a:lstStyle/>
          <a:p>
            <a:pPr algn="l"/>
            <a:r>
              <a:rPr sz="1600" b="1">
                <a:solidFill>
                  <a:srgbClr val="FFFFFF"/>
                </a:solidFill>
                <a:latin typeface="Calibri"/>
              </a:rPr>
              <a:t>API Gateway</a:t>
            </a:r>
          </a:p>
        </p:txBody>
      </p:sp>
      <p:sp>
        <p:nvSpPr>
          <p:cNvPr id="24" name="TextBox 23"/>
          <p:cNvSpPr txBox="1"/>
          <p:nvPr/>
        </p:nvSpPr>
        <p:spPr>
          <a:xfrm>
            <a:off x="7223760" y="3493008"/>
            <a:ext cx="4480560" cy="292608"/>
          </a:xfrm>
          <a:prstGeom prst="rect">
            <a:avLst/>
          </a:prstGeom>
          <a:noFill/>
        </p:spPr>
        <p:txBody>
          <a:bodyPr wrap="square" anchor="t"/>
          <a:lstStyle/>
          <a:p>
            <a:pPr algn="l"/>
            <a:r>
              <a:rPr sz="1200" b="0">
                <a:solidFill>
                  <a:srgbClr val="E8FAF6"/>
                </a:solidFill>
                <a:latin typeface="Calibri"/>
              </a:rPr>
              <a:t>Rutas, Authorizer y CORS</a:t>
            </a:r>
          </a:p>
        </p:txBody>
      </p:sp>
      <p:sp>
        <p:nvSpPr>
          <p:cNvPr id="25" name="Rounded Rectangle 24"/>
          <p:cNvSpPr/>
          <p:nvPr/>
        </p:nvSpPr>
        <p:spPr>
          <a:xfrm>
            <a:off x="457200" y="4069079"/>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178807"/>
            <a:ext cx="640080" cy="640080"/>
          </a:xfrm>
          <a:prstGeom prst="rect">
            <a:avLst/>
          </a:prstGeom>
          <a:noFill/>
        </p:spPr>
        <p:txBody>
          <a:bodyPr wrap="square" anchor="t"/>
          <a:lstStyle/>
          <a:p>
            <a:pPr algn="r"/>
            <a:r>
              <a:rPr sz="2000" b="1">
                <a:solidFill>
                  <a:srgbClr val="2EC4B6"/>
                </a:solidFill>
                <a:latin typeface="Calibri"/>
              </a:rPr>
              <a:t>05</a:t>
            </a:r>
          </a:p>
        </p:txBody>
      </p:sp>
      <p:sp>
        <p:nvSpPr>
          <p:cNvPr id="27" name="TextBox 26"/>
          <p:cNvSpPr txBox="1"/>
          <p:nvPr/>
        </p:nvSpPr>
        <p:spPr>
          <a:xfrm>
            <a:off x="1371600" y="4215383"/>
            <a:ext cx="4480560" cy="347472"/>
          </a:xfrm>
          <a:prstGeom prst="rect">
            <a:avLst/>
          </a:prstGeom>
          <a:noFill/>
        </p:spPr>
        <p:txBody>
          <a:bodyPr wrap="square" anchor="t"/>
          <a:lstStyle/>
          <a:p>
            <a:pPr algn="l"/>
            <a:r>
              <a:rPr sz="1600" b="1">
                <a:solidFill>
                  <a:srgbClr val="FFFFFF"/>
                </a:solidFill>
                <a:latin typeface="Calibri"/>
              </a:rPr>
              <a:t>EC2, Postgres y red</a:t>
            </a:r>
          </a:p>
        </p:txBody>
      </p:sp>
      <p:sp>
        <p:nvSpPr>
          <p:cNvPr id="28" name="TextBox 27"/>
          <p:cNvSpPr txBox="1"/>
          <p:nvPr/>
        </p:nvSpPr>
        <p:spPr>
          <a:xfrm>
            <a:off x="1371600" y="4544567"/>
            <a:ext cx="4480560" cy="292608"/>
          </a:xfrm>
          <a:prstGeom prst="rect">
            <a:avLst/>
          </a:prstGeom>
          <a:noFill/>
        </p:spPr>
        <p:txBody>
          <a:bodyPr wrap="square" anchor="t"/>
          <a:lstStyle/>
          <a:p>
            <a:pPr algn="l"/>
            <a:r>
              <a:rPr sz="1200" b="0">
                <a:solidFill>
                  <a:srgbClr val="E8FAF6"/>
                </a:solidFill>
                <a:latin typeface="Calibri"/>
              </a:rPr>
              <a:t>Los MS no son públicos</a:t>
            </a:r>
          </a:p>
        </p:txBody>
      </p:sp>
      <p:sp>
        <p:nvSpPr>
          <p:cNvPr id="29" name="Rounded Rectangle 28"/>
          <p:cNvSpPr/>
          <p:nvPr/>
        </p:nvSpPr>
        <p:spPr>
          <a:xfrm>
            <a:off x="6309360" y="4069079"/>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4178807"/>
            <a:ext cx="640080" cy="640080"/>
          </a:xfrm>
          <a:prstGeom prst="rect">
            <a:avLst/>
          </a:prstGeom>
          <a:noFill/>
        </p:spPr>
        <p:txBody>
          <a:bodyPr wrap="square" anchor="t"/>
          <a:lstStyle/>
          <a:p>
            <a:pPr algn="r"/>
            <a:r>
              <a:rPr sz="2000" b="1">
                <a:solidFill>
                  <a:srgbClr val="2EC4B6"/>
                </a:solidFill>
                <a:latin typeface="Calibri"/>
              </a:rPr>
              <a:t>06</a:t>
            </a:r>
          </a:p>
        </p:txBody>
      </p:sp>
      <p:sp>
        <p:nvSpPr>
          <p:cNvPr id="31" name="TextBox 30"/>
          <p:cNvSpPr txBox="1"/>
          <p:nvPr/>
        </p:nvSpPr>
        <p:spPr>
          <a:xfrm>
            <a:off x="7223760" y="4215383"/>
            <a:ext cx="4480560" cy="347472"/>
          </a:xfrm>
          <a:prstGeom prst="rect">
            <a:avLst/>
          </a:prstGeom>
          <a:noFill/>
        </p:spPr>
        <p:txBody>
          <a:bodyPr wrap="square" anchor="t"/>
          <a:lstStyle/>
          <a:p>
            <a:pPr algn="l"/>
            <a:r>
              <a:rPr sz="1600" b="1">
                <a:solidFill>
                  <a:srgbClr val="FFFFFF"/>
                </a:solidFill>
                <a:latin typeface="Calibri"/>
              </a:rPr>
              <a:t>React, roles y reglas</a:t>
            </a:r>
          </a:p>
        </p:txBody>
      </p:sp>
      <p:sp>
        <p:nvSpPr>
          <p:cNvPr id="32" name="TextBox 31"/>
          <p:cNvSpPr txBox="1"/>
          <p:nvPr/>
        </p:nvSpPr>
        <p:spPr>
          <a:xfrm>
            <a:off x="7223760" y="4544567"/>
            <a:ext cx="4480560" cy="292608"/>
          </a:xfrm>
          <a:prstGeom prst="rect">
            <a:avLst/>
          </a:prstGeom>
          <a:noFill/>
        </p:spPr>
        <p:txBody>
          <a:bodyPr wrap="square" anchor="t"/>
          <a:lstStyle/>
          <a:p>
            <a:pPr algn="l"/>
            <a:r>
              <a:rPr sz="1200" b="0">
                <a:solidFill>
                  <a:srgbClr val="E8FAF6"/>
                </a:solidFill>
                <a:latin typeface="Calibri"/>
              </a:rPr>
              <a:t>Cliente 403. Admin ve bandeja</a:t>
            </a:r>
          </a:p>
        </p:txBody>
      </p:sp>
      <p:sp>
        <p:nvSpPr>
          <p:cNvPr id="33" name="Rounded Rectangle 32"/>
          <p:cNvSpPr/>
          <p:nvPr/>
        </p:nvSpPr>
        <p:spPr>
          <a:xfrm>
            <a:off x="457200" y="5120640"/>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230368"/>
            <a:ext cx="640080" cy="640080"/>
          </a:xfrm>
          <a:prstGeom prst="rect">
            <a:avLst/>
          </a:prstGeom>
          <a:noFill/>
        </p:spPr>
        <p:txBody>
          <a:bodyPr wrap="square" anchor="t"/>
          <a:lstStyle/>
          <a:p>
            <a:pPr algn="r"/>
            <a:r>
              <a:rPr sz="2000" b="1">
                <a:solidFill>
                  <a:srgbClr val="2EC4B6"/>
                </a:solidFill>
                <a:latin typeface="Calibri"/>
              </a:rPr>
              <a:t>07</a:t>
            </a:r>
          </a:p>
        </p:txBody>
      </p:sp>
      <p:sp>
        <p:nvSpPr>
          <p:cNvPr id="35" name="TextBox 34"/>
          <p:cNvSpPr txBox="1"/>
          <p:nvPr/>
        </p:nvSpPr>
        <p:spPr>
          <a:xfrm>
            <a:off x="1371600" y="5266944"/>
            <a:ext cx="4480560" cy="347472"/>
          </a:xfrm>
          <a:prstGeom prst="rect">
            <a:avLst/>
          </a:prstGeom>
          <a:noFill/>
        </p:spPr>
        <p:txBody>
          <a:bodyPr wrap="square" anchor="t"/>
          <a:lstStyle/>
          <a:p>
            <a:pPr algn="l"/>
            <a:r>
              <a:rPr sz="1600" b="1">
                <a:solidFill>
                  <a:srgbClr val="FFFFFF"/>
                </a:solidFill>
                <a:latin typeface="Calibri"/>
              </a:rPr>
              <a:t>Pruebas</a:t>
            </a:r>
          </a:p>
        </p:txBody>
      </p:sp>
      <p:sp>
        <p:nvSpPr>
          <p:cNvPr id="36" name="TextBox 35"/>
          <p:cNvSpPr txBox="1"/>
          <p:nvPr/>
        </p:nvSpPr>
        <p:spPr>
          <a:xfrm>
            <a:off x="1371600" y="5596128"/>
            <a:ext cx="4480560" cy="292608"/>
          </a:xfrm>
          <a:prstGeom prst="rect">
            <a:avLst/>
          </a:prstGeom>
          <a:noFill/>
        </p:spPr>
        <p:txBody>
          <a:bodyPr wrap="square" anchor="t"/>
          <a:lstStyle/>
          <a:p>
            <a:pPr algn="l"/>
            <a:r>
              <a:rPr sz="1200" b="0">
                <a:solidFill>
                  <a:srgbClr val="E8FAF6"/>
                </a:solidFill>
                <a:latin typeface="Calibri"/>
              </a:rPr>
              <a:t>Lo que ya se ve en las capturas</a:t>
            </a:r>
          </a:p>
        </p:txBody>
      </p:sp>
      <p:sp>
        <p:nvSpPr>
          <p:cNvPr id="37" name="Rounded Rectangle 36"/>
          <p:cNvSpPr/>
          <p:nvPr/>
        </p:nvSpPr>
        <p:spPr>
          <a:xfrm>
            <a:off x="6309360" y="5120640"/>
            <a:ext cx="5577840" cy="91440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5230368"/>
            <a:ext cx="640080" cy="640080"/>
          </a:xfrm>
          <a:prstGeom prst="rect">
            <a:avLst/>
          </a:prstGeom>
          <a:noFill/>
        </p:spPr>
        <p:txBody>
          <a:bodyPr wrap="square" anchor="t"/>
          <a:lstStyle/>
          <a:p>
            <a:pPr algn="r"/>
            <a:r>
              <a:rPr sz="2000" b="1">
                <a:solidFill>
                  <a:srgbClr val="2EC4B6"/>
                </a:solidFill>
                <a:latin typeface="Calibri"/>
              </a:rPr>
              <a:t>08</a:t>
            </a:r>
          </a:p>
        </p:txBody>
      </p:sp>
      <p:sp>
        <p:nvSpPr>
          <p:cNvPr id="39" name="TextBox 38"/>
          <p:cNvSpPr txBox="1"/>
          <p:nvPr/>
        </p:nvSpPr>
        <p:spPr>
          <a:xfrm>
            <a:off x="7223760" y="5266944"/>
            <a:ext cx="4480560" cy="347472"/>
          </a:xfrm>
          <a:prstGeom prst="rect">
            <a:avLst/>
          </a:prstGeom>
          <a:noFill/>
        </p:spPr>
        <p:txBody>
          <a:bodyPr wrap="square" anchor="t"/>
          <a:lstStyle/>
          <a:p>
            <a:pPr algn="l"/>
            <a:r>
              <a:rPr sz="1600" b="1">
                <a:solidFill>
                  <a:srgbClr val="FFFFFF"/>
                </a:solidFill>
                <a:latin typeface="Calibri"/>
              </a:rPr>
              <a:t>Cierre</a:t>
            </a:r>
          </a:p>
        </p:txBody>
      </p:sp>
      <p:sp>
        <p:nvSpPr>
          <p:cNvPr id="40" name="TextBox 39"/>
          <p:cNvSpPr txBox="1"/>
          <p:nvPr/>
        </p:nvSpPr>
        <p:spPr>
          <a:xfrm>
            <a:off x="7223760" y="5596128"/>
            <a:ext cx="4480560" cy="292608"/>
          </a:xfrm>
          <a:prstGeom prst="rect">
            <a:avLst/>
          </a:prstGeom>
          <a:noFill/>
        </p:spPr>
        <p:txBody>
          <a:bodyPr wrap="square" anchor="t"/>
          <a:lstStyle/>
          <a:p>
            <a:pPr algn="l"/>
            <a:r>
              <a:rPr sz="1200" b="0">
                <a:solidFill>
                  <a:srgbClr val="E8FAF6"/>
                </a:solidFill>
                <a:latin typeface="Calibri"/>
              </a:rPr>
              <a:t>Preguntas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01 · Problema   ·   Skarlett</a:t>
            </a:r>
          </a:p>
        </p:txBody>
      </p:sp>
      <p:sp>
        <p:nvSpPr>
          <p:cNvPr id="8" name="TextBox 7"/>
          <p:cNvSpPr txBox="1"/>
          <p:nvPr/>
        </p:nvSpPr>
        <p:spPr>
          <a:xfrm>
            <a:off x="411480" y="777240"/>
            <a:ext cx="10972800" cy="256032"/>
          </a:xfrm>
          <a:prstGeom prst="rect">
            <a:avLst/>
          </a:prstGeom>
          <a:noFill/>
        </p:spPr>
        <p:txBody>
          <a:bodyPr wrap="square" anchor="t"/>
          <a:lstStyle/>
          <a:p>
            <a:pPr algn="l"/>
            <a:r>
              <a:rPr sz="1100" b="1">
                <a:solidFill>
                  <a:srgbClr val="2EC4B6"/>
                </a:solidFill>
                <a:latin typeface="Calibri"/>
              </a:rPr>
              <a:t>EL PROBLEMA</a:t>
            </a:r>
          </a:p>
        </p:txBody>
      </p:sp>
      <p:sp>
        <p:nvSpPr>
          <p:cNvPr id="9" name="TextBox 8"/>
          <p:cNvSpPr txBox="1"/>
          <p:nvPr/>
        </p:nvSpPr>
        <p:spPr>
          <a:xfrm>
            <a:off x="411480" y="1051560"/>
            <a:ext cx="10972800" cy="640080"/>
          </a:xfrm>
          <a:prstGeom prst="rect">
            <a:avLst/>
          </a:prstGeom>
          <a:noFill/>
        </p:spPr>
        <p:txBody>
          <a:bodyPr wrap="square" anchor="t"/>
          <a:lstStyle/>
          <a:p>
            <a:pPr algn="l"/>
            <a:r>
              <a:rPr sz="3000" b="1">
                <a:solidFill>
                  <a:srgbClr val="0A3843"/>
                </a:solidFill>
                <a:latin typeface="Calibri"/>
              </a:rPr>
              <a:t>El soporte está fragmentado.</a:t>
            </a:r>
          </a:p>
        </p:txBody>
      </p:sp>
      <p:sp>
        <p:nvSpPr>
          <p:cNvPr id="10" name="TextBox 9"/>
          <p:cNvSpPr txBox="1"/>
          <p:nvPr/>
        </p:nvSpPr>
        <p:spPr>
          <a:xfrm>
            <a:off x="411480" y="1737360"/>
            <a:ext cx="11338560" cy="457200"/>
          </a:xfrm>
          <a:prstGeom prst="rect">
            <a:avLst/>
          </a:prstGeom>
          <a:noFill/>
        </p:spPr>
        <p:txBody>
          <a:bodyPr wrap="square" anchor="t"/>
          <a:lstStyle/>
          <a:p>
            <a:pPr algn="l"/>
            <a:r>
              <a:rPr sz="1600" b="0">
                <a:solidFill>
                  <a:srgbClr val="4A646C"/>
                </a:solidFill>
                <a:latin typeface="Calibri"/>
              </a:rPr>
              <a:t>El operador no ve la cola. El cliente vuelve a llamar. No hay un estado único de la solicitud.</a:t>
            </a:r>
          </a:p>
        </p:txBody>
      </p:sp>
      <p:sp>
        <p:nvSpPr>
          <p:cNvPr id="11" name="Rounded Rectangle 10"/>
          <p:cNvSpPr/>
          <p:nvPr/>
        </p:nvSpPr>
        <p:spPr>
          <a:xfrm>
            <a:off x="411480" y="2468880"/>
            <a:ext cx="370332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468880"/>
            <a:ext cx="3703320" cy="9144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88920"/>
            <a:ext cx="3246120" cy="731520"/>
          </a:xfrm>
          <a:prstGeom prst="rect">
            <a:avLst/>
          </a:prstGeom>
          <a:noFill/>
        </p:spPr>
        <p:txBody>
          <a:bodyPr wrap="square" anchor="t"/>
          <a:lstStyle/>
          <a:p>
            <a:pPr algn="l"/>
            <a:r>
              <a:rPr sz="1800" b="1">
                <a:solidFill>
                  <a:srgbClr val="0A3843"/>
                </a:solidFill>
                <a:latin typeface="Calibri"/>
              </a:rPr>
              <a:t>Canales dispersos</a:t>
            </a:r>
          </a:p>
        </p:txBody>
      </p:sp>
      <p:sp>
        <p:nvSpPr>
          <p:cNvPr id="14" name="TextBox 13"/>
          <p:cNvSpPr txBox="1"/>
          <p:nvPr/>
        </p:nvSpPr>
        <p:spPr>
          <a:xfrm>
            <a:off x="640080" y="3611880"/>
            <a:ext cx="3246120" cy="1828800"/>
          </a:xfrm>
          <a:prstGeom prst="rect">
            <a:avLst/>
          </a:prstGeom>
          <a:noFill/>
        </p:spPr>
        <p:txBody>
          <a:bodyPr wrap="square" anchor="t"/>
          <a:lstStyle/>
          <a:p>
            <a:pPr algn="l"/>
            <a:r>
              <a:rPr sz="1500" b="0">
                <a:solidFill>
                  <a:srgbClr val="12353C"/>
                </a:solidFill>
                <a:latin typeface="Calibri"/>
              </a:rPr>
              <a:t>Correo, teléfono y chat. El mismo incidente vive en tres hilos.</a:t>
            </a:r>
          </a:p>
        </p:txBody>
      </p:sp>
      <p:sp>
        <p:nvSpPr>
          <p:cNvPr id="15" name="Rounded Rectangle 14"/>
          <p:cNvSpPr/>
          <p:nvPr/>
        </p:nvSpPr>
        <p:spPr>
          <a:xfrm>
            <a:off x="4297680" y="2468880"/>
            <a:ext cx="370332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468880"/>
            <a:ext cx="3703320" cy="9144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788920"/>
            <a:ext cx="3246120" cy="731520"/>
          </a:xfrm>
          <a:prstGeom prst="rect">
            <a:avLst/>
          </a:prstGeom>
          <a:noFill/>
        </p:spPr>
        <p:txBody>
          <a:bodyPr wrap="square" anchor="t"/>
          <a:lstStyle/>
          <a:p>
            <a:pPr algn="l"/>
            <a:r>
              <a:rPr sz="1800" b="1">
                <a:solidFill>
                  <a:srgbClr val="0A3843"/>
                </a:solidFill>
                <a:latin typeface="Calibri"/>
              </a:rPr>
              <a:t>Sin estado ni dueño</a:t>
            </a:r>
          </a:p>
        </p:txBody>
      </p:sp>
      <p:sp>
        <p:nvSpPr>
          <p:cNvPr id="18" name="TextBox 17"/>
          <p:cNvSpPr txBox="1"/>
          <p:nvPr/>
        </p:nvSpPr>
        <p:spPr>
          <a:xfrm>
            <a:off x="4526280" y="3611880"/>
            <a:ext cx="3246120" cy="1828800"/>
          </a:xfrm>
          <a:prstGeom prst="rect">
            <a:avLst/>
          </a:prstGeom>
          <a:noFill/>
        </p:spPr>
        <p:txBody>
          <a:bodyPr wrap="square" anchor="t"/>
          <a:lstStyle/>
          <a:p>
            <a:pPr algn="l"/>
            <a:r>
              <a:rPr sz="1500" b="0">
                <a:solidFill>
                  <a:srgbClr val="12353C"/>
                </a:solidFill>
                <a:latin typeface="Calibri"/>
              </a:rPr>
              <a:t>El operador no sabe cuántas solicitudes hay abiertas ni en qué etapa.</a:t>
            </a:r>
          </a:p>
        </p:txBody>
      </p:sp>
      <p:sp>
        <p:nvSpPr>
          <p:cNvPr id="19" name="Rounded Rectangle 18"/>
          <p:cNvSpPr/>
          <p:nvPr/>
        </p:nvSpPr>
        <p:spPr>
          <a:xfrm>
            <a:off x="8183879" y="2468880"/>
            <a:ext cx="370332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79" y="2468880"/>
            <a:ext cx="3703320" cy="9144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9" y="2788920"/>
            <a:ext cx="3246120" cy="731520"/>
          </a:xfrm>
          <a:prstGeom prst="rect">
            <a:avLst/>
          </a:prstGeom>
          <a:noFill/>
        </p:spPr>
        <p:txBody>
          <a:bodyPr wrap="square" anchor="t"/>
          <a:lstStyle/>
          <a:p>
            <a:pPr algn="l"/>
            <a:r>
              <a:rPr sz="1800" b="1">
                <a:solidFill>
                  <a:srgbClr val="0A3843"/>
                </a:solidFill>
                <a:latin typeface="Calibri"/>
              </a:rPr>
              <a:t>El cliente persigue</a:t>
            </a:r>
          </a:p>
        </p:txBody>
      </p:sp>
      <p:sp>
        <p:nvSpPr>
          <p:cNvPr id="22" name="TextBox 21"/>
          <p:cNvSpPr txBox="1"/>
          <p:nvPr/>
        </p:nvSpPr>
        <p:spPr>
          <a:xfrm>
            <a:off x="8412479" y="3611880"/>
            <a:ext cx="3246120" cy="1828800"/>
          </a:xfrm>
          <a:prstGeom prst="rect">
            <a:avLst/>
          </a:prstGeom>
          <a:noFill/>
        </p:spPr>
        <p:txBody>
          <a:bodyPr wrap="square" anchor="t"/>
          <a:lstStyle/>
          <a:p>
            <a:pPr algn="l"/>
            <a:r>
              <a:rPr sz="1500" b="0">
                <a:solidFill>
                  <a:srgbClr val="12353C"/>
                </a:solidFill>
                <a:latin typeface="Calibri"/>
              </a:rPr>
              <a:t>Vuelve a preguntar: ¿en qué quedó mi solicitud?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01 · Propuesta   ·   Skarlett</a:t>
            </a:r>
          </a:p>
        </p:txBody>
      </p:sp>
      <p:sp>
        <p:nvSpPr>
          <p:cNvPr id="8" name="TextBox 7"/>
          <p:cNvSpPr txBox="1"/>
          <p:nvPr/>
        </p:nvSpPr>
        <p:spPr>
          <a:xfrm>
            <a:off x="411480" y="777240"/>
            <a:ext cx="10972800" cy="256032"/>
          </a:xfrm>
          <a:prstGeom prst="rect">
            <a:avLst/>
          </a:prstGeom>
          <a:noFill/>
        </p:spPr>
        <p:txBody>
          <a:bodyPr wrap="square" anchor="t"/>
          <a:lstStyle/>
          <a:p>
            <a:pPr algn="l"/>
            <a:r>
              <a:rPr sz="1100" b="1">
                <a:solidFill>
                  <a:srgbClr val="2EC4B6"/>
                </a:solidFill>
                <a:latin typeface="Calibri"/>
              </a:rPr>
              <a:t>LA PROPUESTA</a:t>
            </a:r>
          </a:p>
        </p:txBody>
      </p:sp>
      <p:sp>
        <p:nvSpPr>
          <p:cNvPr id="9" name="TextBox 8"/>
          <p:cNvSpPr txBox="1"/>
          <p:nvPr/>
        </p:nvSpPr>
        <p:spPr>
          <a:xfrm>
            <a:off x="411480" y="1051560"/>
            <a:ext cx="11338560" cy="1005840"/>
          </a:xfrm>
          <a:prstGeom prst="rect">
            <a:avLst/>
          </a:prstGeom>
          <a:noFill/>
        </p:spPr>
        <p:txBody>
          <a:bodyPr wrap="square" anchor="t"/>
          <a:lstStyle/>
          <a:p>
            <a:pPr algn="l"/>
            <a:r>
              <a:rPr sz="2800" b="1">
                <a:solidFill>
                  <a:srgbClr val="0A3843"/>
                </a:solidFill>
                <a:latin typeface="Calibri"/>
              </a:rPr>
              <a:t>Un canal autenticado.
Una sola puerta de API.</a:t>
            </a:r>
          </a:p>
        </p:txBody>
      </p:sp>
      <p:sp>
        <p:nvSpPr>
          <p:cNvPr id="10" name="Rounded Rectangle 9"/>
          <p:cNvSpPr/>
          <p:nvPr/>
        </p:nvSpPr>
        <p:spPr>
          <a:xfrm>
            <a:off x="411480" y="2286000"/>
            <a:ext cx="113385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286000"/>
            <a:ext cx="91440" cy="123444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50592"/>
            <a:ext cx="10789920" cy="365760"/>
          </a:xfrm>
          <a:prstGeom prst="rect">
            <a:avLst/>
          </a:prstGeom>
          <a:noFill/>
        </p:spPr>
        <p:txBody>
          <a:bodyPr wrap="square" anchor="t"/>
          <a:lstStyle/>
          <a:p>
            <a:pPr algn="l"/>
            <a:r>
              <a:rPr sz="1600" b="1">
                <a:solidFill>
                  <a:srgbClr val="0A3843"/>
                </a:solidFill>
                <a:latin typeface="Calibri"/>
              </a:rPr>
              <a:t>Portal con Entra ID</a:t>
            </a:r>
          </a:p>
        </p:txBody>
      </p:sp>
      <p:sp>
        <p:nvSpPr>
          <p:cNvPr id="13" name="TextBox 12"/>
          <p:cNvSpPr txBox="1"/>
          <p:nvPr/>
        </p:nvSpPr>
        <p:spPr>
          <a:xfrm>
            <a:off x="731520" y="2852928"/>
            <a:ext cx="10789920" cy="502920"/>
          </a:xfrm>
          <a:prstGeom prst="rect">
            <a:avLst/>
          </a:prstGeom>
          <a:noFill/>
        </p:spPr>
        <p:txBody>
          <a:bodyPr wrap="square" anchor="t"/>
          <a:lstStyle/>
          <a:p>
            <a:pPr algn="l"/>
            <a:r>
              <a:rPr sz="1400" b="0">
                <a:solidFill>
                  <a:srgbClr val="12353C"/>
                </a:solidFill>
                <a:latin typeface="Calibri"/>
              </a:rPr>
              <a:t>Cliente, operador y administrador. INCIDENTE, CONSULTA o SUGERENCIA. BAJA, MEDIA o URGENTE.</a:t>
            </a:r>
          </a:p>
        </p:txBody>
      </p:sp>
      <p:sp>
        <p:nvSpPr>
          <p:cNvPr id="14" name="Rounded Rectangle 13"/>
          <p:cNvSpPr/>
          <p:nvPr/>
        </p:nvSpPr>
        <p:spPr>
          <a:xfrm>
            <a:off x="411480" y="3657600"/>
            <a:ext cx="113385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657600"/>
            <a:ext cx="91440" cy="123444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2"/>
            <a:ext cx="10789920" cy="365760"/>
          </a:xfrm>
          <a:prstGeom prst="rect">
            <a:avLst/>
          </a:prstGeom>
          <a:noFill/>
        </p:spPr>
        <p:txBody>
          <a:bodyPr wrap="square" anchor="t"/>
          <a:lstStyle/>
          <a:p>
            <a:pPr algn="l"/>
            <a:r>
              <a:rPr sz="1600" b="1">
                <a:solidFill>
                  <a:srgbClr val="0A3843"/>
                </a:solidFill>
                <a:latin typeface="Calibri"/>
              </a:rPr>
              <a:t>Estados trazables</a:t>
            </a:r>
          </a:p>
        </p:txBody>
      </p:sp>
      <p:sp>
        <p:nvSpPr>
          <p:cNvPr id="17" name="TextBox 16"/>
          <p:cNvSpPr txBox="1"/>
          <p:nvPr/>
        </p:nvSpPr>
        <p:spPr>
          <a:xfrm>
            <a:off x="731520" y="4224528"/>
            <a:ext cx="10789920" cy="502920"/>
          </a:xfrm>
          <a:prstGeom prst="rect">
            <a:avLst/>
          </a:prstGeom>
          <a:noFill/>
        </p:spPr>
        <p:txBody>
          <a:bodyPr wrap="square" anchor="t"/>
          <a:lstStyle/>
          <a:p>
            <a:pPr algn="l"/>
            <a:r>
              <a:rPr sz="1400" b="0">
                <a:solidFill>
                  <a:srgbClr val="12353C"/>
                </a:solidFill>
                <a:latin typeface="Calibri"/>
              </a:rPr>
              <a:t>CREADA → ASIGNADA → EN_PROCESO → RESUELTA → CERRADA. También CANCELADA.</a:t>
            </a:r>
          </a:p>
        </p:txBody>
      </p:sp>
      <p:sp>
        <p:nvSpPr>
          <p:cNvPr id="18" name="Rounded Rectangle 17"/>
          <p:cNvSpPr/>
          <p:nvPr/>
        </p:nvSpPr>
        <p:spPr>
          <a:xfrm>
            <a:off x="411480" y="5029200"/>
            <a:ext cx="113385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5029200"/>
            <a:ext cx="91440" cy="123444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193792"/>
            <a:ext cx="10789920" cy="365760"/>
          </a:xfrm>
          <a:prstGeom prst="rect">
            <a:avLst/>
          </a:prstGeom>
          <a:noFill/>
        </p:spPr>
        <p:txBody>
          <a:bodyPr wrap="square" anchor="t"/>
          <a:lstStyle/>
          <a:p>
            <a:pPr algn="l"/>
            <a:r>
              <a:rPr sz="1600" b="1">
                <a:solidFill>
                  <a:srgbClr val="0A3843"/>
                </a:solidFill>
                <a:latin typeface="Calibri"/>
              </a:rPr>
              <a:t>Solo API Gateway</a:t>
            </a:r>
          </a:p>
        </p:txBody>
      </p:sp>
      <p:sp>
        <p:nvSpPr>
          <p:cNvPr id="21" name="TextBox 20"/>
          <p:cNvSpPr txBox="1"/>
          <p:nvPr/>
        </p:nvSpPr>
        <p:spPr>
          <a:xfrm>
            <a:off x="731520" y="5596128"/>
            <a:ext cx="10789920" cy="502920"/>
          </a:xfrm>
          <a:prstGeom prst="rect">
            <a:avLst/>
          </a:prstGeom>
          <a:noFill/>
        </p:spPr>
        <p:txBody>
          <a:bodyPr wrap="square" anchor="t"/>
          <a:lstStyle/>
          <a:p>
            <a:pPr algn="l"/>
            <a:r>
              <a:rPr sz="1400" b="0">
                <a:solidFill>
                  <a:srgbClr val="12353C"/>
                </a:solidFill>
                <a:latin typeface="Calibri"/>
              </a:rPr>
              <a:t>React no habla con EC2. El Access Token entra por el HTTP API.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02 · Arquitectura   ·   Nico</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DESPLIEGUE EV1  ·  US-EAST-1</a:t>
            </a:r>
          </a:p>
        </p:txBody>
      </p:sp>
      <p:sp>
        <p:nvSpPr>
          <p:cNvPr id="9" name="TextBox 8"/>
          <p:cNvSpPr txBox="1"/>
          <p:nvPr/>
        </p:nvSpPr>
        <p:spPr>
          <a:xfrm>
            <a:off x="365760" y="960120"/>
            <a:ext cx="11430000" cy="640080"/>
          </a:xfrm>
          <a:prstGeom prst="rect">
            <a:avLst/>
          </a:prstGeom>
          <a:noFill/>
        </p:spPr>
        <p:txBody>
          <a:bodyPr wrap="square" anchor="t"/>
          <a:lstStyle/>
          <a:p>
            <a:pPr algn="l"/>
            <a:r>
              <a:rPr sz="2400" b="1">
                <a:solidFill>
                  <a:srgbClr val="0A3843"/>
                </a:solidFill>
                <a:latin typeface="Calibri"/>
              </a:rPr>
              <a:t>React no llama a EC2. El Gateway es la única puerta.</a:t>
            </a:r>
          </a:p>
        </p:txBody>
      </p:sp>
      <p:sp>
        <p:nvSpPr>
          <p:cNvPr id="10" name="Rounded Rectangle 9"/>
          <p:cNvSpPr/>
          <p:nvPr/>
        </p:nvSpPr>
        <p:spPr>
          <a:xfrm>
            <a:off x="365760" y="1783080"/>
            <a:ext cx="3749039"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40"/>
            <a:ext cx="3383280" cy="256032"/>
          </a:xfrm>
          <a:prstGeom prst="rect">
            <a:avLst/>
          </a:prstGeom>
          <a:noFill/>
        </p:spPr>
        <p:txBody>
          <a:bodyPr wrap="square" anchor="t"/>
          <a:lstStyle/>
          <a:p>
            <a:pPr algn="l"/>
            <a:r>
              <a:rPr sz="1100" b="1">
                <a:solidFill>
                  <a:srgbClr val="2EC4B6"/>
                </a:solidFill>
                <a:latin typeface="Calibri"/>
              </a:rPr>
              <a:t>AZURE</a:t>
            </a:r>
          </a:p>
        </p:txBody>
      </p:sp>
      <p:sp>
        <p:nvSpPr>
          <p:cNvPr id="12" name="TextBox 11"/>
          <p:cNvSpPr txBox="1"/>
          <p:nvPr/>
        </p:nvSpPr>
        <p:spPr>
          <a:xfrm>
            <a:off x="548640" y="2194560"/>
            <a:ext cx="3383280" cy="365760"/>
          </a:xfrm>
          <a:prstGeom prst="rect">
            <a:avLst/>
          </a:prstGeom>
          <a:noFill/>
        </p:spPr>
        <p:txBody>
          <a:bodyPr wrap="square" anchor="t"/>
          <a:lstStyle/>
          <a:p>
            <a:pPr algn="l"/>
            <a:r>
              <a:rPr sz="1600" b="1">
                <a:solidFill>
                  <a:srgbClr val="0A3843"/>
                </a:solidFill>
                <a:latin typeface="Calibri"/>
              </a:rPr>
              <a:t>Microsoft Entra ID</a:t>
            </a:r>
          </a:p>
        </p:txBody>
      </p:sp>
      <p:sp>
        <p:nvSpPr>
          <p:cNvPr id="13" name="TextBox 12"/>
          <p:cNvSpPr txBox="1"/>
          <p:nvPr/>
        </p:nvSpPr>
        <p:spPr>
          <a:xfrm>
            <a:off x="548640" y="2697480"/>
            <a:ext cx="3383280" cy="1005840"/>
          </a:xfrm>
          <a:prstGeom prst="rect">
            <a:avLst/>
          </a:prstGeom>
          <a:noFill/>
        </p:spPr>
        <p:txBody>
          <a:bodyPr wrap="square" anchor="t"/>
          <a:lstStyle/>
          <a:p>
            <a:pPr algn="l"/>
            <a:r>
              <a:rPr sz="1300" b="0">
                <a:solidFill>
                  <a:srgbClr val="12353C"/>
                </a:solidFill>
                <a:latin typeface="Calibri"/>
              </a:rPr>
              <a:t>Access Token · access_as_user
roles: Cliente · Operador · Admin</a:t>
            </a:r>
          </a:p>
        </p:txBody>
      </p:sp>
      <p:sp>
        <p:nvSpPr>
          <p:cNvPr id="14" name="Rounded Rectangle 13"/>
          <p:cNvSpPr/>
          <p:nvPr/>
        </p:nvSpPr>
        <p:spPr>
          <a:xfrm>
            <a:off x="4297680" y="1783080"/>
            <a:ext cx="3749039"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920240"/>
            <a:ext cx="3383280" cy="256032"/>
          </a:xfrm>
          <a:prstGeom prst="rect">
            <a:avLst/>
          </a:prstGeom>
          <a:noFill/>
        </p:spPr>
        <p:txBody>
          <a:bodyPr wrap="square" anchor="t"/>
          <a:lstStyle/>
          <a:p>
            <a:pPr algn="l"/>
            <a:r>
              <a:rPr sz="1100" b="1">
                <a:solidFill>
                  <a:srgbClr val="2EC4B6"/>
                </a:solidFill>
                <a:latin typeface="Calibri"/>
              </a:rPr>
              <a:t>NAVEGADOR</a:t>
            </a:r>
          </a:p>
        </p:txBody>
      </p:sp>
      <p:sp>
        <p:nvSpPr>
          <p:cNvPr id="16" name="TextBox 15"/>
          <p:cNvSpPr txBox="1"/>
          <p:nvPr/>
        </p:nvSpPr>
        <p:spPr>
          <a:xfrm>
            <a:off x="4480560" y="2194560"/>
            <a:ext cx="3383280" cy="365760"/>
          </a:xfrm>
          <a:prstGeom prst="rect">
            <a:avLst/>
          </a:prstGeom>
          <a:noFill/>
        </p:spPr>
        <p:txBody>
          <a:bodyPr wrap="square" anchor="t"/>
          <a:lstStyle/>
          <a:p>
            <a:pPr algn="l"/>
            <a:r>
              <a:rPr sz="1600" b="1">
                <a:solidFill>
                  <a:srgbClr val="0A3843"/>
                </a:solidFill>
                <a:latin typeface="Calibri"/>
              </a:rPr>
              <a:t>React + MSAL</a:t>
            </a:r>
          </a:p>
        </p:txBody>
      </p:sp>
      <p:sp>
        <p:nvSpPr>
          <p:cNvPr id="17" name="TextBox 16"/>
          <p:cNvSpPr txBox="1"/>
          <p:nvPr/>
        </p:nvSpPr>
        <p:spPr>
          <a:xfrm>
            <a:off x="4480560" y="2697480"/>
            <a:ext cx="3383280" cy="1005840"/>
          </a:xfrm>
          <a:prstGeom prst="rect">
            <a:avLst/>
          </a:prstGeom>
          <a:noFill/>
        </p:spPr>
        <p:txBody>
          <a:bodyPr wrap="square" anchor="t"/>
          <a:lstStyle/>
          <a:p>
            <a:pPr algn="l"/>
            <a:r>
              <a:rPr sz="1300" b="0">
                <a:solidFill>
                  <a:srgbClr val="12353C"/>
                </a:solidFill>
                <a:latin typeface="Calibri"/>
              </a:rPr>
              <a:t>Axios + Access Token
API_BASE_URL = Gateway</a:t>
            </a:r>
          </a:p>
        </p:txBody>
      </p:sp>
      <p:sp>
        <p:nvSpPr>
          <p:cNvPr id="18" name="Rounded Rectangle 17"/>
          <p:cNvSpPr/>
          <p:nvPr/>
        </p:nvSpPr>
        <p:spPr>
          <a:xfrm>
            <a:off x="8229600" y="1783080"/>
            <a:ext cx="3749039"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920240"/>
            <a:ext cx="3383280" cy="256032"/>
          </a:xfrm>
          <a:prstGeom prst="rect">
            <a:avLst/>
          </a:prstGeom>
          <a:noFill/>
        </p:spPr>
        <p:txBody>
          <a:bodyPr wrap="square" anchor="t"/>
          <a:lstStyle/>
          <a:p>
            <a:pPr algn="l"/>
            <a:r>
              <a:rPr sz="1100" b="1">
                <a:solidFill>
                  <a:srgbClr val="2EC4B6"/>
                </a:solidFill>
                <a:latin typeface="Calibri"/>
              </a:rPr>
              <a:t>ÚNICA PUERTA</a:t>
            </a:r>
          </a:p>
        </p:txBody>
      </p:sp>
      <p:sp>
        <p:nvSpPr>
          <p:cNvPr id="20" name="TextBox 19"/>
          <p:cNvSpPr txBox="1"/>
          <p:nvPr/>
        </p:nvSpPr>
        <p:spPr>
          <a:xfrm>
            <a:off x="8412480" y="2194560"/>
            <a:ext cx="3383280" cy="365760"/>
          </a:xfrm>
          <a:prstGeom prst="rect">
            <a:avLst/>
          </a:prstGeom>
          <a:noFill/>
        </p:spPr>
        <p:txBody>
          <a:bodyPr wrap="square" anchor="t"/>
          <a:lstStyle/>
          <a:p>
            <a:pPr algn="l"/>
            <a:r>
              <a:rPr sz="1600" b="1">
                <a:solidFill>
                  <a:srgbClr val="0A3843"/>
                </a:solidFill>
                <a:latin typeface="Calibri"/>
              </a:rPr>
              <a:t>API Gateway</a:t>
            </a:r>
          </a:p>
        </p:txBody>
      </p:sp>
      <p:sp>
        <p:nvSpPr>
          <p:cNvPr id="21" name="TextBox 20"/>
          <p:cNvSpPr txBox="1"/>
          <p:nvPr/>
        </p:nvSpPr>
        <p:spPr>
          <a:xfrm>
            <a:off x="8412480" y="2697480"/>
            <a:ext cx="3383280" cy="1005840"/>
          </a:xfrm>
          <a:prstGeom prst="rect">
            <a:avLst/>
          </a:prstGeom>
          <a:noFill/>
        </p:spPr>
        <p:txBody>
          <a:bodyPr wrap="square" anchor="t"/>
          <a:lstStyle/>
          <a:p>
            <a:pPr algn="l"/>
            <a:r>
              <a:rPr sz="1300" b="0">
                <a:solidFill>
                  <a:srgbClr val="12353C"/>
                </a:solidFill>
                <a:latin typeface="Calibri"/>
              </a:rPr>
              <a:t>HTTP API mesatech-ev1
JWT Authorizer · CORS</a:t>
            </a:r>
          </a:p>
        </p:txBody>
      </p:sp>
      <p:sp>
        <p:nvSpPr>
          <p:cNvPr id="22" name="Rounded Rectangle 21"/>
          <p:cNvSpPr/>
          <p:nvPr/>
        </p:nvSpPr>
        <p:spPr>
          <a:xfrm>
            <a:off x="365760" y="4114800"/>
            <a:ext cx="3749039"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251960"/>
            <a:ext cx="3383280" cy="256032"/>
          </a:xfrm>
          <a:prstGeom prst="rect">
            <a:avLst/>
          </a:prstGeom>
          <a:noFill/>
        </p:spPr>
        <p:txBody>
          <a:bodyPr wrap="square" anchor="t"/>
          <a:lstStyle/>
          <a:p>
            <a:pPr algn="l"/>
            <a:r>
              <a:rPr sz="1100" b="1">
                <a:solidFill>
                  <a:srgbClr val="2EC4B6"/>
                </a:solidFill>
                <a:latin typeface="Calibri"/>
              </a:rPr>
              <a:t>EC2</a:t>
            </a:r>
          </a:p>
        </p:txBody>
      </p:sp>
      <p:sp>
        <p:nvSpPr>
          <p:cNvPr id="24" name="TextBox 23"/>
          <p:cNvSpPr txBox="1"/>
          <p:nvPr/>
        </p:nvSpPr>
        <p:spPr>
          <a:xfrm>
            <a:off x="548640" y="4526280"/>
            <a:ext cx="3383280" cy="365760"/>
          </a:xfrm>
          <a:prstGeom prst="rect">
            <a:avLst/>
          </a:prstGeom>
          <a:noFill/>
        </p:spPr>
        <p:txBody>
          <a:bodyPr wrap="square" anchor="t"/>
          <a:lstStyle/>
          <a:p>
            <a:pPr algn="l"/>
            <a:r>
              <a:rPr sz="1600" b="1">
                <a:solidFill>
                  <a:srgbClr val="0A3843"/>
                </a:solidFill>
                <a:latin typeface="Calibri"/>
              </a:rPr>
              <a:t>BFF :8080</a:t>
            </a:r>
          </a:p>
        </p:txBody>
      </p:sp>
      <p:sp>
        <p:nvSpPr>
          <p:cNvPr id="25" name="TextBox 24"/>
          <p:cNvSpPr txBox="1"/>
          <p:nvPr/>
        </p:nvSpPr>
        <p:spPr>
          <a:xfrm>
            <a:off x="548640" y="5029200"/>
            <a:ext cx="3383280" cy="1005840"/>
          </a:xfrm>
          <a:prstGeom prst="rect">
            <a:avLst/>
          </a:prstGeom>
          <a:noFill/>
        </p:spPr>
        <p:txBody>
          <a:bodyPr wrap="square" anchor="t"/>
          <a:lstStyle/>
          <a:p>
            <a:pPr algn="l"/>
            <a:r>
              <a:rPr sz="1300" b="0">
                <a:solidFill>
                  <a:srgbClr val="12353C"/>
                </a:solidFill>
                <a:latin typeface="Calibri"/>
              </a:rPr>
              <a:t>Resource Server · sin JPA
Orquesta 8081 y 8082</a:t>
            </a:r>
          </a:p>
        </p:txBody>
      </p:sp>
      <p:sp>
        <p:nvSpPr>
          <p:cNvPr id="26" name="Rounded Rectangle 25"/>
          <p:cNvSpPr/>
          <p:nvPr/>
        </p:nvSpPr>
        <p:spPr>
          <a:xfrm>
            <a:off x="4297680" y="4114800"/>
            <a:ext cx="3749039"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4251960"/>
            <a:ext cx="3383280" cy="256032"/>
          </a:xfrm>
          <a:prstGeom prst="rect">
            <a:avLst/>
          </a:prstGeom>
          <a:noFill/>
        </p:spPr>
        <p:txBody>
          <a:bodyPr wrap="square" anchor="t"/>
          <a:lstStyle/>
          <a:p>
            <a:pPr algn="l"/>
            <a:r>
              <a:rPr sz="1100" b="1">
                <a:solidFill>
                  <a:srgbClr val="2EC4B6"/>
                </a:solidFill>
                <a:latin typeface="Calibri"/>
              </a:rPr>
              <a:t>EC2</a:t>
            </a:r>
          </a:p>
        </p:txBody>
      </p:sp>
      <p:sp>
        <p:nvSpPr>
          <p:cNvPr id="28" name="TextBox 27"/>
          <p:cNvSpPr txBox="1"/>
          <p:nvPr/>
        </p:nvSpPr>
        <p:spPr>
          <a:xfrm>
            <a:off x="4480560" y="4526280"/>
            <a:ext cx="3383280" cy="365760"/>
          </a:xfrm>
          <a:prstGeom prst="rect">
            <a:avLst/>
          </a:prstGeom>
          <a:noFill/>
        </p:spPr>
        <p:txBody>
          <a:bodyPr wrap="square" anchor="t"/>
          <a:lstStyle/>
          <a:p>
            <a:pPr algn="l"/>
            <a:r>
              <a:rPr sz="1600" b="1">
                <a:solidFill>
                  <a:srgbClr val="0A3843"/>
                </a:solidFill>
                <a:latin typeface="Calibri"/>
              </a:rPr>
              <a:t>MS 8081 / 8082</a:t>
            </a:r>
          </a:p>
        </p:txBody>
      </p:sp>
      <p:sp>
        <p:nvSpPr>
          <p:cNvPr id="29" name="TextBox 28"/>
          <p:cNvSpPr txBox="1"/>
          <p:nvPr/>
        </p:nvSpPr>
        <p:spPr>
          <a:xfrm>
            <a:off x="4480560" y="5029200"/>
            <a:ext cx="3383280" cy="1005840"/>
          </a:xfrm>
          <a:prstGeom prst="rect">
            <a:avLst/>
          </a:prstGeom>
          <a:noFill/>
        </p:spPr>
        <p:txBody>
          <a:bodyPr wrap="square" anchor="t"/>
          <a:lstStyle/>
          <a:p>
            <a:pPr algn="l"/>
            <a:r>
              <a:rPr sz="1300" b="0">
                <a:solidFill>
                  <a:srgbClr val="12353C"/>
                </a:solidFill>
                <a:latin typeface="Calibri"/>
              </a:rPr>
              <a:t>solicitudes y catálogo
No son públicos</a:t>
            </a:r>
          </a:p>
        </p:txBody>
      </p:sp>
      <p:sp>
        <p:nvSpPr>
          <p:cNvPr id="30" name="Rounded Rectangle 29"/>
          <p:cNvSpPr/>
          <p:nvPr/>
        </p:nvSpPr>
        <p:spPr>
          <a:xfrm>
            <a:off x="8229600" y="4114800"/>
            <a:ext cx="3749039"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4251960"/>
            <a:ext cx="3383280" cy="256032"/>
          </a:xfrm>
          <a:prstGeom prst="rect">
            <a:avLst/>
          </a:prstGeom>
          <a:noFill/>
        </p:spPr>
        <p:txBody>
          <a:bodyPr wrap="square" anchor="t"/>
          <a:lstStyle/>
          <a:p>
            <a:pPr algn="l"/>
            <a:r>
              <a:rPr sz="1100" b="1">
                <a:solidFill>
                  <a:srgbClr val="2EC4B6"/>
                </a:solidFill>
                <a:latin typeface="Calibri"/>
              </a:rPr>
              <a:t>EC2</a:t>
            </a:r>
          </a:p>
        </p:txBody>
      </p:sp>
      <p:sp>
        <p:nvSpPr>
          <p:cNvPr id="32" name="TextBox 31"/>
          <p:cNvSpPr txBox="1"/>
          <p:nvPr/>
        </p:nvSpPr>
        <p:spPr>
          <a:xfrm>
            <a:off x="8412480" y="4526280"/>
            <a:ext cx="3383280" cy="365760"/>
          </a:xfrm>
          <a:prstGeom prst="rect">
            <a:avLst/>
          </a:prstGeom>
          <a:noFill/>
        </p:spPr>
        <p:txBody>
          <a:bodyPr wrap="square" anchor="t"/>
          <a:lstStyle/>
          <a:p>
            <a:pPr algn="l"/>
            <a:r>
              <a:rPr sz="1600" b="1">
                <a:solidFill>
                  <a:srgbClr val="0A3843"/>
                </a:solidFill>
                <a:latin typeface="Calibri"/>
              </a:rPr>
              <a:t>PostgreSQL 16</a:t>
            </a:r>
          </a:p>
        </p:txBody>
      </p:sp>
      <p:sp>
        <p:nvSpPr>
          <p:cNvPr id="33" name="TextBox 32"/>
          <p:cNvSpPr txBox="1"/>
          <p:nvPr/>
        </p:nvSpPr>
        <p:spPr>
          <a:xfrm>
            <a:off x="8412480" y="5029200"/>
            <a:ext cx="3383280" cy="1005840"/>
          </a:xfrm>
          <a:prstGeom prst="rect">
            <a:avLst/>
          </a:prstGeom>
          <a:noFill/>
        </p:spPr>
        <p:txBody>
          <a:bodyPr wrap="square" anchor="t"/>
          <a:lstStyle/>
          <a:p>
            <a:pPr algn="l"/>
            <a:r>
              <a:rPr sz="1300" b="0">
                <a:solidFill>
                  <a:srgbClr val="12353C"/>
                </a:solidFill>
                <a:latin typeface="Calibri"/>
              </a:rPr>
              <a:t>Docker · dos bases
5432 solo desde 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03 · Entra ID   ·   Ari</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MICROSOFT ENTRA ID</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Dos registros. Tres roles.</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i-consent.png"/>
          <p:cNvPicPr>
            <a:picLocks noChangeAspect="1"/>
          </p:cNvPicPr>
          <p:nvPr/>
        </p:nvPicPr>
        <p:blipFill>
          <a:blip r:embed="rId3"/>
          <a:stretch>
            <a:fillRect/>
          </a:stretch>
        </p:blipFill>
        <p:spPr>
          <a:xfrm>
            <a:off x="502920" y="2400860"/>
            <a:ext cx="5074920" cy="2522621"/>
          </a:xfrm>
          <a:prstGeom prst="rect">
            <a:avLst/>
          </a:prstGeom>
        </p:spPr>
      </p:pic>
      <p:pic>
        <p:nvPicPr>
          <p:cNvPr id="13" name="Picture 12" descr="ari-roles.png"/>
          <p:cNvPicPr>
            <a:picLocks noChangeAspect="1"/>
          </p:cNvPicPr>
          <p:nvPr/>
        </p:nvPicPr>
        <p:blipFill>
          <a:blip r:embed="rId4"/>
          <a:stretch>
            <a:fillRect/>
          </a:stretch>
        </p:blipFill>
        <p:spPr>
          <a:xfrm>
            <a:off x="6611112" y="2452796"/>
            <a:ext cx="5074920" cy="2418748"/>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Scope access_as_user, con consentimiento de administrador.</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Tres usuarios de prueba. El Access Token lleva el rol.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03 · JWT   ·   Nico</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RESOURCE SERVER</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Sin token, el BFF responde 401.</a:t>
            </a:r>
          </a:p>
        </p:txBody>
      </p:sp>
      <p:sp>
        <p:nvSpPr>
          <p:cNvPr id="10" name="Rounded Rectangle 9"/>
          <p:cNvSpPr/>
          <p:nvPr/>
        </p:nvSpPr>
        <p:spPr>
          <a:xfrm>
            <a:off x="411480" y="1965960"/>
            <a:ext cx="11338560" cy="397763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ic-401.png"/>
          <p:cNvPicPr>
            <a:picLocks noChangeAspect="1"/>
          </p:cNvPicPr>
          <p:nvPr/>
        </p:nvPicPr>
        <p:blipFill>
          <a:blip r:embed="rId3"/>
          <a:stretch>
            <a:fillRect/>
          </a:stretch>
        </p:blipFill>
        <p:spPr>
          <a:xfrm>
            <a:off x="640080" y="2191434"/>
            <a:ext cx="10881360" cy="3170073"/>
          </a:xfrm>
          <a:prstGeom prst="rect">
            <a:avLst/>
          </a:prstGeom>
        </p:spPr>
      </p:pic>
      <p:sp>
        <p:nvSpPr>
          <p:cNvPr id="12" name="Rectangle 11"/>
          <p:cNvSpPr/>
          <p:nvPr/>
        </p:nvSpPr>
        <p:spPr>
          <a:xfrm>
            <a:off x="411480" y="6309360"/>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 y="6309360"/>
            <a:ext cx="11192256" cy="384048"/>
          </a:xfrm>
          <a:prstGeom prst="rect">
            <a:avLst/>
          </a:prstGeom>
          <a:noFill/>
        </p:spPr>
        <p:txBody>
          <a:bodyPr wrap="square" anchor="t"/>
          <a:lstStyle/>
          <a:p>
            <a:pPr algn="l"/>
            <a:r>
              <a:rPr sz="1100" b="0">
                <a:solidFill>
                  <a:srgbClr val="4A646C"/>
                </a:solidFill>
                <a:latin typeface="Calibri"/>
              </a:rPr>
              <a:t>Curl a :8080 sin Authorization. 401 no es 403.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04 · Gateway   ·   Giannina</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AWS API GATEWAY</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Una HTTP API. No la IP de EC2.</a:t>
            </a:r>
          </a:p>
        </p:txBody>
      </p:sp>
      <p:sp>
        <p:nvSpPr>
          <p:cNvPr id="10" name="Rounded Rectangle 9"/>
          <p:cNvSpPr/>
          <p:nvPr/>
        </p:nvSpPr>
        <p:spPr>
          <a:xfrm>
            <a:off x="411480" y="1965960"/>
            <a:ext cx="11338560" cy="397763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in-01.png"/>
          <p:cNvPicPr>
            <a:picLocks noChangeAspect="1"/>
          </p:cNvPicPr>
          <p:nvPr/>
        </p:nvPicPr>
        <p:blipFill>
          <a:blip r:embed="rId3"/>
          <a:stretch>
            <a:fillRect/>
          </a:stretch>
        </p:blipFill>
        <p:spPr>
          <a:xfrm>
            <a:off x="2501212" y="2084831"/>
            <a:ext cx="7159095" cy="3383280"/>
          </a:xfrm>
          <a:prstGeom prst="rect">
            <a:avLst/>
          </a:prstGeom>
        </p:spPr>
      </p:pic>
      <p:sp>
        <p:nvSpPr>
          <p:cNvPr id="12" name="Rectangle 11"/>
          <p:cNvSpPr/>
          <p:nvPr/>
        </p:nvSpPr>
        <p:spPr>
          <a:xfrm>
            <a:off x="411480" y="6309360"/>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 y="6309360"/>
            <a:ext cx="11192256" cy="384048"/>
          </a:xfrm>
          <a:prstGeom prst="rect">
            <a:avLst/>
          </a:prstGeom>
          <a:noFill/>
        </p:spPr>
        <p:txBody>
          <a:bodyPr wrap="square" anchor="t"/>
          <a:lstStyle/>
          <a:p>
            <a:pPr algn="l"/>
            <a:r>
              <a:rPr sz="1100" b="0">
                <a:solidFill>
                  <a:srgbClr val="4A646C"/>
                </a:solidFill>
                <a:latin typeface="Calibri"/>
              </a:rPr>
              <a:t>React usa la Invoke URL. El Gateway reenvía al BFF :8080.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04 · Rutas   ·   Giannina</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RUTAS E INTEGRACIÓN</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El mismo path que el BFF.</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in-02.png"/>
          <p:cNvPicPr>
            <a:picLocks noChangeAspect="1"/>
          </p:cNvPicPr>
          <p:nvPr/>
        </p:nvPicPr>
        <p:blipFill>
          <a:blip r:embed="rId3"/>
          <a:stretch>
            <a:fillRect/>
          </a:stretch>
        </p:blipFill>
        <p:spPr>
          <a:xfrm>
            <a:off x="502920" y="2452203"/>
            <a:ext cx="5074920" cy="2419935"/>
          </a:xfrm>
          <a:prstGeom prst="rect">
            <a:avLst/>
          </a:prstGeom>
        </p:spPr>
      </p:pic>
      <p:pic>
        <p:nvPicPr>
          <p:cNvPr id="13" name="Picture 12" descr="nin-03.png"/>
          <p:cNvPicPr>
            <a:picLocks noChangeAspect="1"/>
          </p:cNvPicPr>
          <p:nvPr/>
        </p:nvPicPr>
        <p:blipFill>
          <a:blip r:embed="rId4"/>
          <a:stretch>
            <a:fillRect/>
          </a:stretch>
        </p:blipFill>
        <p:spPr>
          <a:xfrm>
            <a:off x="6611112" y="2507807"/>
            <a:ext cx="5074920" cy="2308727"/>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Solicitudes, catálogo y /api/usuario salen por la misma HTTP API.</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Integración HTTP hacia el BFF :8080. El path no se reescribe.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04 · Perímetro   ·   Giannina</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AUTHORIZER Y CORS</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El navegador entra con Access Token.</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in-04.png"/>
          <p:cNvPicPr>
            <a:picLocks noChangeAspect="1"/>
          </p:cNvPicPr>
          <p:nvPr/>
        </p:nvPicPr>
        <p:blipFill>
          <a:blip r:embed="rId3"/>
          <a:stretch>
            <a:fillRect/>
          </a:stretch>
        </p:blipFill>
        <p:spPr>
          <a:xfrm>
            <a:off x="2270453" y="2084831"/>
            <a:ext cx="1539852" cy="3154680"/>
          </a:xfrm>
          <a:prstGeom prst="rect">
            <a:avLst/>
          </a:prstGeom>
        </p:spPr>
      </p:pic>
      <p:pic>
        <p:nvPicPr>
          <p:cNvPr id="13" name="Picture 12" descr="nin-08.png"/>
          <p:cNvPicPr>
            <a:picLocks noChangeAspect="1"/>
          </p:cNvPicPr>
          <p:nvPr/>
        </p:nvPicPr>
        <p:blipFill>
          <a:blip r:embed="rId4"/>
          <a:stretch>
            <a:fillRect/>
          </a:stretch>
        </p:blipFill>
        <p:spPr>
          <a:xfrm>
            <a:off x="6611112" y="2807056"/>
            <a:ext cx="5074920" cy="1710229"/>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Las rutas de solicitudes y catálogo llevan JWT Authorizer.</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Desde React: OPTIONS 204 y GET 200.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05 · Despliegue   ·   Nico</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DESPLIEGUE</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BFF y microservicios en EC2.</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ic-bff.png"/>
          <p:cNvPicPr>
            <a:picLocks noChangeAspect="1"/>
          </p:cNvPicPr>
          <p:nvPr/>
        </p:nvPicPr>
        <p:blipFill>
          <a:blip r:embed="rId3"/>
          <a:stretch>
            <a:fillRect/>
          </a:stretch>
        </p:blipFill>
        <p:spPr>
          <a:xfrm>
            <a:off x="502920" y="3082894"/>
            <a:ext cx="5074920" cy="1158553"/>
          </a:xfrm>
          <a:prstGeom prst="rect">
            <a:avLst/>
          </a:prstGeom>
        </p:spPr>
      </p:pic>
      <p:pic>
        <p:nvPicPr>
          <p:cNvPr id="13" name="Picture 12" descr="nic-ms.png"/>
          <p:cNvPicPr>
            <a:picLocks noChangeAspect="1"/>
          </p:cNvPicPr>
          <p:nvPr/>
        </p:nvPicPr>
        <p:blipFill>
          <a:blip r:embed="rId4"/>
          <a:stretch>
            <a:fillRect/>
          </a:stretch>
        </p:blipFill>
        <p:spPr>
          <a:xfrm>
            <a:off x="6611112" y="3182111"/>
            <a:ext cx="5074920" cy="960120"/>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BFF en :8080. Ahí llega el Gateway. Sin JPA.</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ms-solicitudes en :8081. ms-catalogo en :8082.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05 · Datos   ·   Nico</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PERSISTENCIA</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PostgreSQL 16 en Docker. El BFF no escribe.</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ic-pg.png"/>
          <p:cNvPicPr>
            <a:picLocks noChangeAspect="1"/>
          </p:cNvPicPr>
          <p:nvPr/>
        </p:nvPicPr>
        <p:blipFill>
          <a:blip r:embed="rId3"/>
          <a:stretch>
            <a:fillRect/>
          </a:stretch>
        </p:blipFill>
        <p:spPr>
          <a:xfrm>
            <a:off x="502920" y="2622431"/>
            <a:ext cx="5074920" cy="2079479"/>
          </a:xfrm>
          <a:prstGeom prst="rect">
            <a:avLst/>
          </a:prstGeom>
        </p:spPr>
      </p:pic>
      <p:pic>
        <p:nvPicPr>
          <p:cNvPr id="13" name="Picture 12" descr="ska-persist.png"/>
          <p:cNvPicPr>
            <a:picLocks noChangeAspect="1"/>
          </p:cNvPicPr>
          <p:nvPr/>
        </p:nvPicPr>
        <p:blipFill>
          <a:blip r:embed="rId4"/>
          <a:stretch>
            <a:fillRect/>
          </a:stretch>
        </p:blipFill>
        <p:spPr>
          <a:xfrm>
            <a:off x="6611112" y="2351614"/>
            <a:ext cx="5074920" cy="2621112"/>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Docker en EC2, no RDS. Dos bases. Solo los MS escriben.</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Folios 0001 y 0002 siguen en CREADA después de consultar.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05 · Red   ·   Nico</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SEGURIDAD DE RED</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Los microservicios no son públicos.</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ic-timeout.png"/>
          <p:cNvPicPr>
            <a:picLocks noChangeAspect="1"/>
          </p:cNvPicPr>
          <p:nvPr/>
        </p:nvPicPr>
        <p:blipFill>
          <a:blip r:embed="rId3"/>
          <a:stretch>
            <a:fillRect/>
          </a:stretch>
        </p:blipFill>
        <p:spPr>
          <a:xfrm>
            <a:off x="502920" y="3397284"/>
            <a:ext cx="5074920" cy="529772"/>
          </a:xfrm>
          <a:prstGeom prst="rect">
            <a:avLst/>
          </a:prstGeom>
        </p:spPr>
      </p:pic>
      <p:pic>
        <p:nvPicPr>
          <p:cNvPr id="13" name="Picture 12" descr="nic-sg-db.png"/>
          <p:cNvPicPr>
            <a:picLocks noChangeAspect="1"/>
          </p:cNvPicPr>
          <p:nvPr/>
        </p:nvPicPr>
        <p:blipFill>
          <a:blip r:embed="rId4"/>
          <a:stretch>
            <a:fillRect/>
          </a:stretch>
        </p:blipFill>
        <p:spPr>
          <a:xfrm>
            <a:off x="6611112" y="2843536"/>
            <a:ext cx="5074920" cy="1637269"/>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Desde Internet, :8081 da timeout.</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5432 acepta tráfico solo desde el SG de los 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06 · Aplicación   ·   Skarlett</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APLICACIÓN</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Un login. Tres experiencias.</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i-login.png"/>
          <p:cNvPicPr>
            <a:picLocks noChangeAspect="1"/>
          </p:cNvPicPr>
          <p:nvPr/>
        </p:nvPicPr>
        <p:blipFill>
          <a:blip r:embed="rId3"/>
          <a:stretch>
            <a:fillRect/>
          </a:stretch>
        </p:blipFill>
        <p:spPr>
          <a:xfrm>
            <a:off x="1368019" y="2084831"/>
            <a:ext cx="3344720" cy="3154680"/>
          </a:xfrm>
          <a:prstGeom prst="rect">
            <a:avLst/>
          </a:prstGeom>
        </p:spPr>
      </p:pic>
      <p:pic>
        <p:nvPicPr>
          <p:cNvPr id="13" name="Picture 12" descr="ska-cliente.png"/>
          <p:cNvPicPr>
            <a:picLocks noChangeAspect="1"/>
          </p:cNvPicPr>
          <p:nvPr/>
        </p:nvPicPr>
        <p:blipFill>
          <a:blip r:embed="rId4"/>
          <a:stretch>
            <a:fillRect/>
          </a:stretch>
        </p:blipFill>
        <p:spPr>
          <a:xfrm>
            <a:off x="6611112" y="2454616"/>
            <a:ext cx="5074920" cy="2415108"/>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MSAL abre Entra. Cuentas de prueba del tenant.</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Cliente MesaTech. Solo puede crear y ver las suyas.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06 · Reglas   ·   Skarlett</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AUTORIZACIÓN</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El rol decide qué se puede ver.</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ka-403.png"/>
          <p:cNvPicPr>
            <a:picLocks noChangeAspect="1"/>
          </p:cNvPicPr>
          <p:nvPr/>
        </p:nvPicPr>
        <p:blipFill>
          <a:blip r:embed="rId3"/>
          <a:stretch>
            <a:fillRect/>
          </a:stretch>
        </p:blipFill>
        <p:spPr>
          <a:xfrm>
            <a:off x="1361573" y="2084831"/>
            <a:ext cx="3357612" cy="3154680"/>
          </a:xfrm>
          <a:prstGeom prst="rect">
            <a:avLst/>
          </a:prstGeom>
        </p:spPr>
      </p:pic>
      <p:pic>
        <p:nvPicPr>
          <p:cNvPr id="13" name="Picture 12" descr="ska-admin.png"/>
          <p:cNvPicPr>
            <a:picLocks noChangeAspect="1"/>
          </p:cNvPicPr>
          <p:nvPr/>
        </p:nvPicPr>
        <p:blipFill>
          <a:blip r:embed="rId4"/>
          <a:stretch>
            <a:fillRect/>
          </a:stretch>
        </p:blipFill>
        <p:spPr>
          <a:xfrm>
            <a:off x="6611112" y="2475550"/>
            <a:ext cx="5074920" cy="2373240"/>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Cliente autenticado. GET /v1/solicitudes (todas): 403.</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Administrador: bandeja general y catálogo.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0A3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09728"/>
            <a:ext cx="5486400" cy="365760"/>
          </a:xfrm>
          <a:prstGeom prst="rect">
            <a:avLst/>
          </a:prstGeom>
          <a:noFill/>
        </p:spPr>
        <p:txBody>
          <a:bodyPr wrap="square" anchor="t"/>
          <a:lstStyle/>
          <a:p>
            <a:pPr algn="r"/>
            <a:r>
              <a:rPr sz="1300" b="1">
                <a:solidFill>
                  <a:srgbClr val="FFFFFF"/>
                </a:solidFill>
                <a:latin typeface="Calibri"/>
              </a:rPr>
              <a:t>MESATECH  CLOUD</a:t>
            </a:r>
          </a:p>
        </p:txBody>
      </p:sp>
      <p:sp>
        <p:nvSpPr>
          <p:cNvPr id="6" name="TextBox 5"/>
          <p:cNvSpPr txBox="1"/>
          <p:nvPr/>
        </p:nvSpPr>
        <p:spPr>
          <a:xfrm>
            <a:off x="7863840" y="109728"/>
            <a:ext cx="3931920" cy="365760"/>
          </a:xfrm>
          <a:prstGeom prst="rect">
            <a:avLst/>
          </a:prstGeom>
          <a:noFill/>
        </p:spPr>
        <p:txBody>
          <a:bodyPr wrap="square" anchor="ctr"/>
          <a:lstStyle/>
          <a:p>
            <a:pPr algn="r"/>
            <a:r>
              <a:rPr sz="1200" b="1">
                <a:solidFill>
                  <a:srgbClr val="2EC4B6"/>
                </a:solidFill>
                <a:latin typeface="Calibri"/>
              </a:rPr>
              <a:t>07 · Pruebas   ·   Equipo</a:t>
            </a:r>
          </a:p>
        </p:txBody>
      </p:sp>
      <p:sp>
        <p:nvSpPr>
          <p:cNvPr id="7" name="TextBox 6"/>
          <p:cNvSpPr txBox="1"/>
          <p:nvPr/>
        </p:nvSpPr>
        <p:spPr>
          <a:xfrm>
            <a:off x="411480" y="822960"/>
            <a:ext cx="10972800" cy="256032"/>
          </a:xfrm>
          <a:prstGeom prst="rect">
            <a:avLst/>
          </a:prstGeom>
          <a:noFill/>
        </p:spPr>
        <p:txBody>
          <a:bodyPr wrap="square" anchor="t"/>
          <a:lstStyle/>
          <a:p>
            <a:pPr algn="l"/>
            <a:r>
              <a:rPr sz="1100" b="1">
                <a:solidFill>
                  <a:srgbClr val="2EC4B6"/>
                </a:solidFill>
                <a:latin typeface="Calibri"/>
              </a:rPr>
              <a:t>PRUEBAS MÍNIMAS</a:t>
            </a:r>
          </a:p>
        </p:txBody>
      </p:sp>
      <p:sp>
        <p:nvSpPr>
          <p:cNvPr id="8" name="TextBox 7"/>
          <p:cNvSpPr txBox="1"/>
          <p:nvPr/>
        </p:nvSpPr>
        <p:spPr>
          <a:xfrm>
            <a:off x="411480" y="1097280"/>
            <a:ext cx="11338560" cy="640080"/>
          </a:xfrm>
          <a:prstGeom prst="rect">
            <a:avLst/>
          </a:prstGeom>
          <a:noFill/>
        </p:spPr>
        <p:txBody>
          <a:bodyPr wrap="square" anchor="t"/>
          <a:lstStyle/>
          <a:p>
            <a:pPr algn="l"/>
            <a:r>
              <a:rPr sz="2600" b="1">
                <a:solidFill>
                  <a:srgbClr val="FFFFFF"/>
                </a:solidFill>
                <a:latin typeface="Calibri"/>
              </a:rPr>
              <a:t>Nueve chequeos. Una frase cada uno.</a:t>
            </a:r>
          </a:p>
        </p:txBody>
      </p:sp>
      <p:sp>
        <p:nvSpPr>
          <p:cNvPr id="9" name="Rounded Rectangle 8"/>
          <p:cNvSpPr/>
          <p:nvPr/>
        </p:nvSpPr>
        <p:spPr>
          <a:xfrm>
            <a:off x="411480" y="1965960"/>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148840"/>
            <a:ext cx="3337560" cy="411480"/>
          </a:xfrm>
          <a:prstGeom prst="rect">
            <a:avLst/>
          </a:prstGeom>
          <a:noFill/>
        </p:spPr>
        <p:txBody>
          <a:bodyPr wrap="square" anchor="t"/>
          <a:lstStyle/>
          <a:p>
            <a:pPr algn="l"/>
            <a:r>
              <a:rPr sz="1800" b="1">
                <a:solidFill>
                  <a:srgbClr val="2EC4B6"/>
                </a:solidFill>
                <a:latin typeface="Calibri"/>
              </a:rPr>
              <a:t>sin datos</a:t>
            </a:r>
          </a:p>
        </p:txBody>
      </p:sp>
      <p:sp>
        <p:nvSpPr>
          <p:cNvPr id="11" name="TextBox 10"/>
          <p:cNvSpPr txBox="1"/>
          <p:nvPr/>
        </p:nvSpPr>
        <p:spPr>
          <a:xfrm>
            <a:off x="594360" y="2651760"/>
            <a:ext cx="3337560" cy="457200"/>
          </a:xfrm>
          <a:prstGeom prst="rect">
            <a:avLst/>
          </a:prstGeom>
          <a:noFill/>
        </p:spPr>
        <p:txBody>
          <a:bodyPr wrap="square" anchor="t"/>
          <a:lstStyle/>
          <a:p>
            <a:pPr algn="l"/>
            <a:r>
              <a:rPr sz="1400" b="0">
                <a:solidFill>
                  <a:srgbClr val="FFFFFF"/>
                </a:solidFill>
                <a:latin typeface="Calibri"/>
              </a:rPr>
              <a:t>Sin autenticación</a:t>
            </a:r>
          </a:p>
        </p:txBody>
      </p:sp>
      <p:sp>
        <p:nvSpPr>
          <p:cNvPr id="12" name="Rounded Rectangle 11"/>
          <p:cNvSpPr/>
          <p:nvPr/>
        </p:nvSpPr>
        <p:spPr>
          <a:xfrm>
            <a:off x="4297680" y="1965960"/>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148840"/>
            <a:ext cx="3337560" cy="411480"/>
          </a:xfrm>
          <a:prstGeom prst="rect">
            <a:avLst/>
          </a:prstGeom>
          <a:noFill/>
        </p:spPr>
        <p:txBody>
          <a:bodyPr wrap="square" anchor="t"/>
          <a:lstStyle/>
          <a:p>
            <a:pPr algn="l"/>
            <a:r>
              <a:rPr sz="1800" b="1">
                <a:solidFill>
                  <a:srgbClr val="2EC4B6"/>
                </a:solidFill>
                <a:latin typeface="Calibri"/>
              </a:rPr>
              <a:t>401</a:t>
            </a:r>
          </a:p>
        </p:txBody>
      </p:sp>
      <p:sp>
        <p:nvSpPr>
          <p:cNvPr id="14" name="TextBox 13"/>
          <p:cNvSpPr txBox="1"/>
          <p:nvPr/>
        </p:nvSpPr>
        <p:spPr>
          <a:xfrm>
            <a:off x="4480560" y="2651760"/>
            <a:ext cx="3337560" cy="457200"/>
          </a:xfrm>
          <a:prstGeom prst="rect">
            <a:avLst/>
          </a:prstGeom>
          <a:noFill/>
        </p:spPr>
        <p:txBody>
          <a:bodyPr wrap="square" anchor="t"/>
          <a:lstStyle/>
          <a:p>
            <a:pPr algn="l"/>
            <a:r>
              <a:rPr sz="1400" b="0">
                <a:solidFill>
                  <a:srgbClr val="FFFFFF"/>
                </a:solidFill>
                <a:latin typeface="Calibri"/>
              </a:rPr>
              <a:t>Gateway sin token</a:t>
            </a:r>
          </a:p>
        </p:txBody>
      </p:sp>
      <p:sp>
        <p:nvSpPr>
          <p:cNvPr id="15" name="Rounded Rectangle 14"/>
          <p:cNvSpPr/>
          <p:nvPr/>
        </p:nvSpPr>
        <p:spPr>
          <a:xfrm>
            <a:off x="8183879" y="1965960"/>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59" y="2148840"/>
            <a:ext cx="3337560" cy="411480"/>
          </a:xfrm>
          <a:prstGeom prst="rect">
            <a:avLst/>
          </a:prstGeom>
          <a:noFill/>
        </p:spPr>
        <p:txBody>
          <a:bodyPr wrap="square" anchor="t"/>
          <a:lstStyle/>
          <a:p>
            <a:pPr algn="l"/>
            <a:r>
              <a:rPr sz="1800" b="1">
                <a:solidFill>
                  <a:srgbClr val="2EC4B6"/>
                </a:solidFill>
                <a:latin typeface="Calibri"/>
              </a:rPr>
              <a:t>401</a:t>
            </a:r>
          </a:p>
        </p:txBody>
      </p:sp>
      <p:sp>
        <p:nvSpPr>
          <p:cNvPr id="17" name="TextBox 16"/>
          <p:cNvSpPr txBox="1"/>
          <p:nvPr/>
        </p:nvSpPr>
        <p:spPr>
          <a:xfrm>
            <a:off x="8366759" y="2651760"/>
            <a:ext cx="3337560" cy="457200"/>
          </a:xfrm>
          <a:prstGeom prst="rect">
            <a:avLst/>
          </a:prstGeom>
          <a:noFill/>
        </p:spPr>
        <p:txBody>
          <a:bodyPr wrap="square" anchor="t"/>
          <a:lstStyle/>
          <a:p>
            <a:pPr algn="l"/>
            <a:r>
              <a:rPr sz="1400" b="0">
                <a:solidFill>
                  <a:srgbClr val="FFFFFF"/>
                </a:solidFill>
                <a:latin typeface="Calibri"/>
              </a:rPr>
              <a:t>JWT inválido o expirado</a:t>
            </a:r>
          </a:p>
        </p:txBody>
      </p:sp>
      <p:sp>
        <p:nvSpPr>
          <p:cNvPr id="18" name="Rounded Rectangle 17"/>
          <p:cNvSpPr/>
          <p:nvPr/>
        </p:nvSpPr>
        <p:spPr>
          <a:xfrm>
            <a:off x="411480" y="3474720"/>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657600"/>
            <a:ext cx="3337560" cy="411480"/>
          </a:xfrm>
          <a:prstGeom prst="rect">
            <a:avLst/>
          </a:prstGeom>
          <a:noFill/>
        </p:spPr>
        <p:txBody>
          <a:bodyPr wrap="square" anchor="t"/>
          <a:lstStyle/>
          <a:p>
            <a:pPr algn="l"/>
            <a:r>
              <a:rPr sz="1800" b="1">
                <a:solidFill>
                  <a:srgbClr val="2EC4B6"/>
                </a:solidFill>
                <a:latin typeface="Calibri"/>
              </a:rPr>
              <a:t>200</a:t>
            </a:r>
          </a:p>
        </p:txBody>
      </p:sp>
      <p:sp>
        <p:nvSpPr>
          <p:cNvPr id="20" name="TextBox 19"/>
          <p:cNvSpPr txBox="1"/>
          <p:nvPr/>
        </p:nvSpPr>
        <p:spPr>
          <a:xfrm>
            <a:off x="594360" y="4160520"/>
            <a:ext cx="3337560" cy="457200"/>
          </a:xfrm>
          <a:prstGeom prst="rect">
            <a:avLst/>
          </a:prstGeom>
          <a:noFill/>
        </p:spPr>
        <p:txBody>
          <a:bodyPr wrap="square" anchor="t"/>
          <a:lstStyle/>
          <a:p>
            <a:pPr algn="l"/>
            <a:r>
              <a:rPr sz="1400" b="0">
                <a:solidFill>
                  <a:srgbClr val="FFFFFF"/>
                </a:solidFill>
                <a:latin typeface="Calibri"/>
              </a:rPr>
              <a:t>JWT válido vía Gateway</a:t>
            </a:r>
          </a:p>
        </p:txBody>
      </p:sp>
      <p:sp>
        <p:nvSpPr>
          <p:cNvPr id="21" name="Rounded Rectangle 20"/>
          <p:cNvSpPr/>
          <p:nvPr/>
        </p:nvSpPr>
        <p:spPr>
          <a:xfrm>
            <a:off x="4297680" y="3474720"/>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3657600"/>
            <a:ext cx="3337560" cy="411480"/>
          </a:xfrm>
          <a:prstGeom prst="rect">
            <a:avLst/>
          </a:prstGeom>
          <a:noFill/>
        </p:spPr>
        <p:txBody>
          <a:bodyPr wrap="square" anchor="t"/>
          <a:lstStyle/>
          <a:p>
            <a:pPr algn="l"/>
            <a:r>
              <a:rPr sz="1800" b="1">
                <a:solidFill>
                  <a:srgbClr val="2EC4B6"/>
                </a:solidFill>
                <a:latin typeface="Calibri"/>
              </a:rPr>
              <a:t>403</a:t>
            </a:r>
          </a:p>
        </p:txBody>
      </p:sp>
      <p:sp>
        <p:nvSpPr>
          <p:cNvPr id="23" name="TextBox 22"/>
          <p:cNvSpPr txBox="1"/>
          <p:nvPr/>
        </p:nvSpPr>
        <p:spPr>
          <a:xfrm>
            <a:off x="4480560" y="4160520"/>
            <a:ext cx="3337560" cy="457200"/>
          </a:xfrm>
          <a:prstGeom prst="rect">
            <a:avLst/>
          </a:prstGeom>
          <a:noFill/>
        </p:spPr>
        <p:txBody>
          <a:bodyPr wrap="square" anchor="t"/>
          <a:lstStyle/>
          <a:p>
            <a:pPr algn="l"/>
            <a:r>
              <a:rPr sz="1400" b="0">
                <a:solidFill>
                  <a:srgbClr val="FFFFFF"/>
                </a:solidFill>
                <a:latin typeface="Calibri"/>
              </a:rPr>
              <a:t>Cliente a bandeja general</a:t>
            </a:r>
          </a:p>
        </p:txBody>
      </p:sp>
      <p:sp>
        <p:nvSpPr>
          <p:cNvPr id="24" name="Rounded Rectangle 23"/>
          <p:cNvSpPr/>
          <p:nvPr/>
        </p:nvSpPr>
        <p:spPr>
          <a:xfrm>
            <a:off x="8183879" y="3474720"/>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59" y="3657600"/>
            <a:ext cx="3337560" cy="411480"/>
          </a:xfrm>
          <a:prstGeom prst="rect">
            <a:avLst/>
          </a:prstGeom>
          <a:noFill/>
        </p:spPr>
        <p:txBody>
          <a:bodyPr wrap="square" anchor="t"/>
          <a:lstStyle/>
          <a:p>
            <a:pPr algn="l"/>
            <a:r>
              <a:rPr sz="1800" b="1">
                <a:solidFill>
                  <a:srgbClr val="2EC4B6"/>
                </a:solidFill>
                <a:latin typeface="Calibri"/>
              </a:rPr>
              <a:t>204 + 200</a:t>
            </a:r>
          </a:p>
        </p:txBody>
      </p:sp>
      <p:sp>
        <p:nvSpPr>
          <p:cNvPr id="26" name="TextBox 25"/>
          <p:cNvSpPr txBox="1"/>
          <p:nvPr/>
        </p:nvSpPr>
        <p:spPr>
          <a:xfrm>
            <a:off x="8366759" y="4160520"/>
            <a:ext cx="3337560" cy="457200"/>
          </a:xfrm>
          <a:prstGeom prst="rect">
            <a:avLst/>
          </a:prstGeom>
          <a:noFill/>
        </p:spPr>
        <p:txBody>
          <a:bodyPr wrap="square" anchor="t"/>
          <a:lstStyle/>
          <a:p>
            <a:pPr algn="l"/>
            <a:r>
              <a:rPr sz="1400" b="0">
                <a:solidFill>
                  <a:srgbClr val="FFFFFF"/>
                </a:solidFill>
                <a:latin typeface="Calibri"/>
              </a:rPr>
              <a:t>CORS desde React</a:t>
            </a:r>
          </a:p>
        </p:txBody>
      </p:sp>
      <p:sp>
        <p:nvSpPr>
          <p:cNvPr id="27" name="Rounded Rectangle 26"/>
          <p:cNvSpPr/>
          <p:nvPr/>
        </p:nvSpPr>
        <p:spPr>
          <a:xfrm>
            <a:off x="411480" y="4983479"/>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166359"/>
            <a:ext cx="3337560" cy="411480"/>
          </a:xfrm>
          <a:prstGeom prst="rect">
            <a:avLst/>
          </a:prstGeom>
          <a:noFill/>
        </p:spPr>
        <p:txBody>
          <a:bodyPr wrap="square" anchor="t"/>
          <a:lstStyle/>
          <a:p>
            <a:pPr algn="l"/>
            <a:r>
              <a:rPr sz="1800" b="1">
                <a:solidFill>
                  <a:srgbClr val="2EC4B6"/>
                </a:solidFill>
                <a:latin typeface="Calibri"/>
              </a:rPr>
              <a:t>409</a:t>
            </a:r>
          </a:p>
        </p:txBody>
      </p:sp>
      <p:sp>
        <p:nvSpPr>
          <p:cNvPr id="29" name="TextBox 28"/>
          <p:cNvSpPr txBox="1"/>
          <p:nvPr/>
        </p:nvSpPr>
        <p:spPr>
          <a:xfrm>
            <a:off x="594360" y="5669279"/>
            <a:ext cx="3337560" cy="457200"/>
          </a:xfrm>
          <a:prstGeom prst="rect">
            <a:avLst/>
          </a:prstGeom>
          <a:noFill/>
        </p:spPr>
        <p:txBody>
          <a:bodyPr wrap="square" anchor="t"/>
          <a:lstStyle/>
          <a:p>
            <a:pPr algn="l"/>
            <a:r>
              <a:rPr sz="1400" b="0">
                <a:solidFill>
                  <a:srgbClr val="FFFFFF"/>
                </a:solidFill>
                <a:latin typeface="Calibri"/>
              </a:rPr>
              <a:t>RESUELTA fuera de EN_PROCESO</a:t>
            </a:r>
          </a:p>
        </p:txBody>
      </p:sp>
      <p:sp>
        <p:nvSpPr>
          <p:cNvPr id="30" name="Rounded Rectangle 29"/>
          <p:cNvSpPr/>
          <p:nvPr/>
        </p:nvSpPr>
        <p:spPr>
          <a:xfrm>
            <a:off x="4297680" y="4983479"/>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5166359"/>
            <a:ext cx="3337560" cy="411480"/>
          </a:xfrm>
          <a:prstGeom prst="rect">
            <a:avLst/>
          </a:prstGeom>
          <a:noFill/>
        </p:spPr>
        <p:txBody>
          <a:bodyPr wrap="square" anchor="t"/>
          <a:lstStyle/>
          <a:p>
            <a:pPr algn="l"/>
            <a:r>
              <a:rPr sz="1800" b="1">
                <a:solidFill>
                  <a:srgbClr val="2EC4B6"/>
                </a:solidFill>
                <a:latin typeface="Calibri"/>
              </a:rPr>
              <a:t>contratos</a:t>
            </a:r>
          </a:p>
        </p:txBody>
      </p:sp>
      <p:sp>
        <p:nvSpPr>
          <p:cNvPr id="32" name="TextBox 31"/>
          <p:cNvSpPr txBox="1"/>
          <p:nvPr/>
        </p:nvSpPr>
        <p:spPr>
          <a:xfrm>
            <a:off x="4480560" y="5669279"/>
            <a:ext cx="3337560" cy="457200"/>
          </a:xfrm>
          <a:prstGeom prst="rect">
            <a:avLst/>
          </a:prstGeom>
          <a:noFill/>
        </p:spPr>
        <p:txBody>
          <a:bodyPr wrap="square" anchor="t"/>
          <a:lstStyle/>
          <a:p>
            <a:pPr algn="l"/>
            <a:r>
              <a:rPr sz="1400" b="0">
                <a:solidFill>
                  <a:srgbClr val="FFFFFF"/>
                </a:solidFill>
                <a:latin typeface="Calibri"/>
              </a:rPr>
              <a:t>v1 y v2 conviven</a:t>
            </a:r>
          </a:p>
        </p:txBody>
      </p:sp>
      <p:sp>
        <p:nvSpPr>
          <p:cNvPr id="33" name="Rounded Rectangle 32"/>
          <p:cNvSpPr/>
          <p:nvPr/>
        </p:nvSpPr>
        <p:spPr>
          <a:xfrm>
            <a:off x="8183879" y="4983479"/>
            <a:ext cx="3703320" cy="1325880"/>
          </a:xfrm>
          <a:prstGeom prst="round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66759" y="5166359"/>
            <a:ext cx="3337560" cy="411480"/>
          </a:xfrm>
          <a:prstGeom prst="rect">
            <a:avLst/>
          </a:prstGeom>
          <a:noFill/>
        </p:spPr>
        <p:txBody>
          <a:bodyPr wrap="square" anchor="t"/>
          <a:lstStyle/>
          <a:p>
            <a:pPr algn="l"/>
            <a:r>
              <a:rPr sz="1800" b="1">
                <a:solidFill>
                  <a:srgbClr val="2EC4B6"/>
                </a:solidFill>
                <a:latin typeface="Calibri"/>
              </a:rPr>
              <a:t>datos vivos</a:t>
            </a:r>
          </a:p>
        </p:txBody>
      </p:sp>
      <p:sp>
        <p:nvSpPr>
          <p:cNvPr id="35" name="TextBox 34"/>
          <p:cNvSpPr txBox="1"/>
          <p:nvPr/>
        </p:nvSpPr>
        <p:spPr>
          <a:xfrm>
            <a:off x="8366759" y="5669279"/>
            <a:ext cx="3337560" cy="457200"/>
          </a:xfrm>
          <a:prstGeom prst="rect">
            <a:avLst/>
          </a:prstGeom>
          <a:noFill/>
        </p:spPr>
        <p:txBody>
          <a:bodyPr wrap="square" anchor="t"/>
          <a:lstStyle/>
          <a:p>
            <a:pPr algn="l"/>
            <a:r>
              <a:rPr sz="1400" b="0">
                <a:solidFill>
                  <a:srgbClr val="FFFFFF"/>
                </a:solidFill>
                <a:latin typeface="Calibri"/>
              </a:rPr>
              <a:t>Persistencia en Postgres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ierre_composed.png"/>
          <p:cNvPicPr>
            <a:picLocks noChangeAspect="1"/>
          </p:cNvPicPr>
          <p:nvPr/>
        </p:nvPicPr>
        <p:blipFill>
          <a:blip r:embed="rId2"/>
          <a:stretch>
            <a:fillRect/>
          </a:stretch>
        </p:blipFill>
        <p:spPr>
          <a:xfrm>
            <a:off x="0" y="0"/>
            <a:ext cx="12191695" cy="6858000"/>
          </a:xfrm>
          <a:prstGeom prst="rect">
            <a:avLst/>
          </a:prstGeom>
        </p:spPr>
      </p:pic>
      <p:pic>
        <p:nvPicPr>
          <p:cNvPr id="3" name="Picture 2" descr="duoc-uc-white.png"/>
          <p:cNvPicPr>
            <a:picLocks noChangeAspect="1"/>
          </p:cNvPicPr>
          <p:nvPr/>
        </p:nvPicPr>
        <p:blipFill>
          <a:blip r:embed="rId3"/>
          <a:stretch>
            <a:fillRect/>
          </a:stretch>
        </p:blipFill>
        <p:spPr>
          <a:xfrm>
            <a:off x="530352" y="292608"/>
            <a:ext cx="1298448" cy="347472"/>
          </a:xfrm>
          <a:prstGeom prst="rect">
            <a:avLst/>
          </a:prstGeom>
        </p:spPr>
      </p:pic>
      <p:sp>
        <p:nvSpPr>
          <p:cNvPr id="4" name="TextBox 3"/>
          <p:cNvSpPr txBox="1"/>
          <p:nvPr/>
        </p:nvSpPr>
        <p:spPr>
          <a:xfrm>
            <a:off x="1965960" y="329184"/>
            <a:ext cx="4754880" cy="292608"/>
          </a:xfrm>
          <a:prstGeom prst="rect">
            <a:avLst/>
          </a:prstGeom>
          <a:noFill/>
        </p:spPr>
        <p:txBody>
          <a:bodyPr wrap="square" anchor="t"/>
          <a:lstStyle/>
          <a:p>
            <a:pPr algn="r"/>
            <a:r>
              <a:rPr sz="1100" b="1">
                <a:solidFill>
                  <a:srgbClr val="C8DEDA"/>
                </a:solidFill>
                <a:latin typeface="Calibri"/>
              </a:rPr>
              <a:t>DESARROLLO CLOUD NATIVE  ·  DSY1107</a:t>
            </a:r>
          </a:p>
        </p:txBody>
      </p:sp>
      <p:sp>
        <p:nvSpPr>
          <p:cNvPr id="5" name="TextBox 4"/>
          <p:cNvSpPr txBox="1"/>
          <p:nvPr/>
        </p:nvSpPr>
        <p:spPr>
          <a:xfrm>
            <a:off x="530352" y="960120"/>
            <a:ext cx="6400800" cy="256032"/>
          </a:xfrm>
          <a:prstGeom prst="rect">
            <a:avLst/>
          </a:prstGeom>
          <a:noFill/>
        </p:spPr>
        <p:txBody>
          <a:bodyPr wrap="square" anchor="t"/>
          <a:lstStyle/>
          <a:p>
            <a:pPr algn="l"/>
            <a:r>
              <a:rPr sz="1200" b="1">
                <a:solidFill>
                  <a:srgbClr val="2EC4B6"/>
                </a:solidFill>
                <a:latin typeface="Calibri"/>
              </a:rPr>
              <a:t>EVALUACIÓN PARCIAL N.° 1</a:t>
            </a:r>
          </a:p>
        </p:txBody>
      </p:sp>
      <p:sp>
        <p:nvSpPr>
          <p:cNvPr id="6" name="TextBox 5"/>
          <p:cNvSpPr txBox="1"/>
          <p:nvPr/>
        </p:nvSpPr>
        <p:spPr>
          <a:xfrm>
            <a:off x="475488" y="1225296"/>
            <a:ext cx="6583680" cy="640080"/>
          </a:xfrm>
          <a:prstGeom prst="rect">
            <a:avLst/>
          </a:prstGeom>
          <a:noFill/>
        </p:spPr>
        <p:txBody>
          <a:bodyPr wrap="square" anchor="t"/>
          <a:lstStyle/>
          <a:p>
            <a:pPr algn="l"/>
            <a:r>
              <a:rPr sz="2800" b="1">
                <a:solidFill>
                  <a:srgbClr val="FFFFFF"/>
                </a:solidFill>
                <a:latin typeface="Calibri"/>
              </a:rPr>
              <a:t>Lo que queda demostrado.</a:t>
            </a:r>
          </a:p>
        </p:txBody>
      </p:sp>
      <p:sp>
        <p:nvSpPr>
          <p:cNvPr id="7" name="TextBox 6"/>
          <p:cNvSpPr txBox="1"/>
          <p:nvPr/>
        </p:nvSpPr>
        <p:spPr>
          <a:xfrm>
            <a:off x="530352" y="1993392"/>
            <a:ext cx="502920" cy="329184"/>
          </a:xfrm>
          <a:prstGeom prst="rect">
            <a:avLst/>
          </a:prstGeom>
          <a:noFill/>
        </p:spPr>
        <p:txBody>
          <a:bodyPr wrap="square" anchor="t"/>
          <a:lstStyle/>
          <a:p>
            <a:pPr algn="r"/>
            <a:r>
              <a:rPr sz="1400" b="1">
                <a:solidFill>
                  <a:srgbClr val="2EC4B6"/>
                </a:solidFill>
                <a:latin typeface="Calibri"/>
              </a:rPr>
              <a:t>01</a:t>
            </a:r>
          </a:p>
        </p:txBody>
      </p:sp>
      <p:sp>
        <p:nvSpPr>
          <p:cNvPr id="8" name="TextBox 7"/>
          <p:cNvSpPr txBox="1"/>
          <p:nvPr/>
        </p:nvSpPr>
        <p:spPr>
          <a:xfrm>
            <a:off x="1115568" y="1993392"/>
            <a:ext cx="5669280" cy="292608"/>
          </a:xfrm>
          <a:prstGeom prst="rect">
            <a:avLst/>
          </a:prstGeom>
          <a:noFill/>
        </p:spPr>
        <p:txBody>
          <a:bodyPr wrap="square" anchor="t"/>
          <a:lstStyle/>
          <a:p>
            <a:pPr algn="l"/>
            <a:r>
              <a:rPr sz="1600" b="1">
                <a:solidFill>
                  <a:srgbClr val="FFFFFF"/>
                </a:solidFill>
                <a:latin typeface="Calibri"/>
              </a:rPr>
              <a:t>Identidad</a:t>
            </a:r>
          </a:p>
        </p:txBody>
      </p:sp>
      <p:sp>
        <p:nvSpPr>
          <p:cNvPr id="9" name="TextBox 8"/>
          <p:cNvSpPr txBox="1"/>
          <p:nvPr/>
        </p:nvSpPr>
        <p:spPr>
          <a:xfrm>
            <a:off x="1115568" y="2286000"/>
            <a:ext cx="5669280" cy="438912"/>
          </a:xfrm>
          <a:prstGeom prst="rect">
            <a:avLst/>
          </a:prstGeom>
          <a:noFill/>
        </p:spPr>
        <p:txBody>
          <a:bodyPr wrap="square" anchor="t"/>
          <a:lstStyle/>
          <a:p>
            <a:pPr algn="l"/>
            <a:r>
              <a:rPr sz="1300" b="0">
                <a:solidFill>
                  <a:srgbClr val="C8DEDA"/>
                </a:solidFill>
                <a:latin typeface="Calibri"/>
              </a:rPr>
              <a:t>Entra ID emite el JWT. Sin token, Gateway y BFF responden 401.</a:t>
            </a:r>
          </a:p>
        </p:txBody>
      </p:sp>
      <p:sp>
        <p:nvSpPr>
          <p:cNvPr id="10" name="TextBox 9"/>
          <p:cNvSpPr txBox="1"/>
          <p:nvPr/>
        </p:nvSpPr>
        <p:spPr>
          <a:xfrm>
            <a:off x="530352" y="2834640"/>
            <a:ext cx="502920" cy="329184"/>
          </a:xfrm>
          <a:prstGeom prst="rect">
            <a:avLst/>
          </a:prstGeom>
          <a:noFill/>
        </p:spPr>
        <p:txBody>
          <a:bodyPr wrap="square" anchor="t"/>
          <a:lstStyle/>
          <a:p>
            <a:pPr algn="r"/>
            <a:r>
              <a:rPr sz="1400" b="1">
                <a:solidFill>
                  <a:srgbClr val="2EC4B6"/>
                </a:solidFill>
                <a:latin typeface="Calibri"/>
              </a:rPr>
              <a:t>02</a:t>
            </a:r>
          </a:p>
        </p:txBody>
      </p:sp>
      <p:sp>
        <p:nvSpPr>
          <p:cNvPr id="11" name="TextBox 10"/>
          <p:cNvSpPr txBox="1"/>
          <p:nvPr/>
        </p:nvSpPr>
        <p:spPr>
          <a:xfrm>
            <a:off x="1115568" y="2834640"/>
            <a:ext cx="5669280" cy="292608"/>
          </a:xfrm>
          <a:prstGeom prst="rect">
            <a:avLst/>
          </a:prstGeom>
          <a:noFill/>
        </p:spPr>
        <p:txBody>
          <a:bodyPr wrap="square" anchor="t"/>
          <a:lstStyle/>
          <a:p>
            <a:pPr algn="l"/>
            <a:r>
              <a:rPr sz="1600" b="1">
                <a:solidFill>
                  <a:srgbClr val="FFFFFF"/>
                </a:solidFill>
                <a:latin typeface="Calibri"/>
              </a:rPr>
              <a:t>Perímetro</a:t>
            </a:r>
          </a:p>
        </p:txBody>
      </p:sp>
      <p:sp>
        <p:nvSpPr>
          <p:cNvPr id="12" name="TextBox 11"/>
          <p:cNvSpPr txBox="1"/>
          <p:nvPr/>
        </p:nvSpPr>
        <p:spPr>
          <a:xfrm>
            <a:off x="1115568" y="3127248"/>
            <a:ext cx="5669280" cy="438912"/>
          </a:xfrm>
          <a:prstGeom prst="rect">
            <a:avLst/>
          </a:prstGeom>
          <a:noFill/>
        </p:spPr>
        <p:txBody>
          <a:bodyPr wrap="square" anchor="t"/>
          <a:lstStyle/>
          <a:p>
            <a:pPr algn="l"/>
            <a:r>
              <a:rPr sz="1300" b="0">
                <a:solidFill>
                  <a:srgbClr val="C8DEDA"/>
                </a:solidFill>
                <a:latin typeface="Calibri"/>
              </a:rPr>
              <a:t>React solo consume API Gateway. Los microservicios no son públicos.</a:t>
            </a:r>
          </a:p>
        </p:txBody>
      </p:sp>
      <p:sp>
        <p:nvSpPr>
          <p:cNvPr id="13" name="TextBox 12"/>
          <p:cNvSpPr txBox="1"/>
          <p:nvPr/>
        </p:nvSpPr>
        <p:spPr>
          <a:xfrm>
            <a:off x="530352" y="3675888"/>
            <a:ext cx="502920" cy="329184"/>
          </a:xfrm>
          <a:prstGeom prst="rect">
            <a:avLst/>
          </a:prstGeom>
          <a:noFill/>
        </p:spPr>
        <p:txBody>
          <a:bodyPr wrap="square" anchor="t"/>
          <a:lstStyle/>
          <a:p>
            <a:pPr algn="r"/>
            <a:r>
              <a:rPr sz="1400" b="1">
                <a:solidFill>
                  <a:srgbClr val="2EC4B6"/>
                </a:solidFill>
                <a:latin typeface="Calibri"/>
              </a:rPr>
              <a:t>03</a:t>
            </a:r>
          </a:p>
        </p:txBody>
      </p:sp>
      <p:sp>
        <p:nvSpPr>
          <p:cNvPr id="14" name="TextBox 13"/>
          <p:cNvSpPr txBox="1"/>
          <p:nvPr/>
        </p:nvSpPr>
        <p:spPr>
          <a:xfrm>
            <a:off x="1115568" y="3675888"/>
            <a:ext cx="5669280" cy="292608"/>
          </a:xfrm>
          <a:prstGeom prst="rect">
            <a:avLst/>
          </a:prstGeom>
          <a:noFill/>
        </p:spPr>
        <p:txBody>
          <a:bodyPr wrap="square" anchor="t"/>
          <a:lstStyle/>
          <a:p>
            <a:pPr algn="l"/>
            <a:r>
              <a:rPr sz="1600" b="1">
                <a:solidFill>
                  <a:srgbClr val="FFFFFF"/>
                </a:solidFill>
                <a:latin typeface="Calibri"/>
              </a:rPr>
              <a:t>Dominio</a:t>
            </a:r>
          </a:p>
        </p:txBody>
      </p:sp>
      <p:sp>
        <p:nvSpPr>
          <p:cNvPr id="15" name="TextBox 14"/>
          <p:cNvSpPr txBox="1"/>
          <p:nvPr/>
        </p:nvSpPr>
        <p:spPr>
          <a:xfrm>
            <a:off x="1115568" y="3968496"/>
            <a:ext cx="5669280" cy="438912"/>
          </a:xfrm>
          <a:prstGeom prst="rect">
            <a:avLst/>
          </a:prstGeom>
          <a:noFill/>
        </p:spPr>
        <p:txBody>
          <a:bodyPr wrap="square" anchor="t"/>
          <a:lstStyle/>
          <a:p>
            <a:pPr algn="l"/>
            <a:r>
              <a:rPr sz="1300" b="0">
                <a:solidFill>
                  <a:srgbClr val="C8DEDA"/>
                </a:solidFill>
                <a:latin typeface="Calibri"/>
              </a:rPr>
              <a:t>403 es rol. 409 es regla de estado. Postgres persiste.</a:t>
            </a:r>
          </a:p>
        </p:txBody>
      </p:sp>
      <p:sp>
        <p:nvSpPr>
          <p:cNvPr id="16" name="TextBox 15"/>
          <p:cNvSpPr txBox="1"/>
          <p:nvPr/>
        </p:nvSpPr>
        <p:spPr>
          <a:xfrm>
            <a:off x="530352" y="4553712"/>
            <a:ext cx="5852160" cy="292608"/>
          </a:xfrm>
          <a:prstGeom prst="rect">
            <a:avLst/>
          </a:prstGeom>
          <a:noFill/>
        </p:spPr>
        <p:txBody>
          <a:bodyPr wrap="square" anchor="t"/>
          <a:lstStyle/>
          <a:p>
            <a:pPr algn="l"/>
            <a:r>
              <a:rPr sz="1300" b="1">
                <a:solidFill>
                  <a:srgbClr val="2EC4B6"/>
                </a:solidFill>
                <a:latin typeface="Calibri"/>
              </a:rPr>
              <a:t>PREGUNTAS</a:t>
            </a:r>
          </a:p>
        </p:txBody>
      </p:sp>
      <p:sp>
        <p:nvSpPr>
          <p:cNvPr id="17" name="Rectangle 16"/>
          <p:cNvSpPr/>
          <p:nvPr/>
        </p:nvSpPr>
        <p:spPr>
          <a:xfrm>
            <a:off x="530352" y="5010912"/>
            <a:ext cx="6766560" cy="12700"/>
          </a:xfrm>
          <a:prstGeom prst="rect">
            <a:avLst/>
          </a:prstGeom>
          <a:solidFill>
            <a:srgbClr val="5A7A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 y="5193792"/>
            <a:ext cx="19050" cy="566928"/>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5157216"/>
            <a:ext cx="1463040" cy="274320"/>
          </a:xfrm>
          <a:prstGeom prst="rect">
            <a:avLst/>
          </a:prstGeom>
          <a:noFill/>
        </p:spPr>
        <p:txBody>
          <a:bodyPr wrap="square" anchor="t"/>
          <a:lstStyle/>
          <a:p>
            <a:pPr algn="l"/>
            <a:r>
              <a:rPr sz="1300" b="1">
                <a:solidFill>
                  <a:srgbClr val="FFFFFF"/>
                </a:solidFill>
                <a:latin typeface="Calibri"/>
              </a:rPr>
              <a:t>Ari</a:t>
            </a:r>
          </a:p>
        </p:txBody>
      </p:sp>
      <p:sp>
        <p:nvSpPr>
          <p:cNvPr id="20" name="TextBox 19"/>
          <p:cNvSpPr txBox="1"/>
          <p:nvPr/>
        </p:nvSpPr>
        <p:spPr>
          <a:xfrm>
            <a:off x="676656" y="5431536"/>
            <a:ext cx="1463040" cy="256032"/>
          </a:xfrm>
          <a:prstGeom prst="rect">
            <a:avLst/>
          </a:prstGeom>
          <a:noFill/>
        </p:spPr>
        <p:txBody>
          <a:bodyPr wrap="square" anchor="t"/>
          <a:lstStyle/>
          <a:p>
            <a:pPr algn="l"/>
            <a:r>
              <a:rPr sz="1100" b="0">
                <a:solidFill>
                  <a:srgbClr val="C8DEDA"/>
                </a:solidFill>
                <a:latin typeface="Calibri"/>
              </a:rPr>
              <a:t>Entra ID y JWT</a:t>
            </a:r>
          </a:p>
        </p:txBody>
      </p:sp>
      <p:sp>
        <p:nvSpPr>
          <p:cNvPr id="21" name="Rectangle 20"/>
          <p:cNvSpPr/>
          <p:nvPr/>
        </p:nvSpPr>
        <p:spPr>
          <a:xfrm>
            <a:off x="2221992" y="5193792"/>
            <a:ext cx="19050" cy="566928"/>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68296" y="5157216"/>
            <a:ext cx="1463040" cy="274320"/>
          </a:xfrm>
          <a:prstGeom prst="rect">
            <a:avLst/>
          </a:prstGeom>
          <a:noFill/>
        </p:spPr>
        <p:txBody>
          <a:bodyPr wrap="square" anchor="t"/>
          <a:lstStyle/>
          <a:p>
            <a:pPr algn="l"/>
            <a:r>
              <a:rPr sz="1300" b="1">
                <a:solidFill>
                  <a:srgbClr val="FFFFFF"/>
                </a:solidFill>
                <a:latin typeface="Calibri"/>
              </a:rPr>
              <a:t>Giannina</a:t>
            </a:r>
          </a:p>
        </p:txBody>
      </p:sp>
      <p:sp>
        <p:nvSpPr>
          <p:cNvPr id="23" name="TextBox 22"/>
          <p:cNvSpPr txBox="1"/>
          <p:nvPr/>
        </p:nvSpPr>
        <p:spPr>
          <a:xfrm>
            <a:off x="2368296" y="5431536"/>
            <a:ext cx="1463040" cy="256032"/>
          </a:xfrm>
          <a:prstGeom prst="rect">
            <a:avLst/>
          </a:prstGeom>
          <a:noFill/>
        </p:spPr>
        <p:txBody>
          <a:bodyPr wrap="square" anchor="t"/>
          <a:lstStyle/>
          <a:p>
            <a:pPr algn="l"/>
            <a:r>
              <a:rPr sz="1100" b="0">
                <a:solidFill>
                  <a:srgbClr val="C8DEDA"/>
                </a:solidFill>
                <a:latin typeface="Calibri"/>
              </a:rPr>
              <a:t>Gateway y CORS</a:t>
            </a:r>
          </a:p>
        </p:txBody>
      </p:sp>
      <p:sp>
        <p:nvSpPr>
          <p:cNvPr id="24" name="Rectangle 23"/>
          <p:cNvSpPr/>
          <p:nvPr/>
        </p:nvSpPr>
        <p:spPr>
          <a:xfrm>
            <a:off x="3913632" y="5193792"/>
            <a:ext cx="19050" cy="566928"/>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59936" y="5157216"/>
            <a:ext cx="1463040" cy="274320"/>
          </a:xfrm>
          <a:prstGeom prst="rect">
            <a:avLst/>
          </a:prstGeom>
          <a:noFill/>
        </p:spPr>
        <p:txBody>
          <a:bodyPr wrap="square" anchor="t"/>
          <a:lstStyle/>
          <a:p>
            <a:pPr algn="l"/>
            <a:r>
              <a:rPr sz="1300" b="1">
                <a:solidFill>
                  <a:srgbClr val="FFFFFF"/>
                </a:solidFill>
                <a:latin typeface="Calibri"/>
              </a:rPr>
              <a:t>Nicolas</a:t>
            </a:r>
          </a:p>
        </p:txBody>
      </p:sp>
      <p:sp>
        <p:nvSpPr>
          <p:cNvPr id="26" name="TextBox 25"/>
          <p:cNvSpPr txBox="1"/>
          <p:nvPr/>
        </p:nvSpPr>
        <p:spPr>
          <a:xfrm>
            <a:off x="4059936" y="5431536"/>
            <a:ext cx="1463040" cy="256032"/>
          </a:xfrm>
          <a:prstGeom prst="rect">
            <a:avLst/>
          </a:prstGeom>
          <a:noFill/>
        </p:spPr>
        <p:txBody>
          <a:bodyPr wrap="square" anchor="t"/>
          <a:lstStyle/>
          <a:p>
            <a:pPr algn="l"/>
            <a:r>
              <a:rPr sz="1100" b="0">
                <a:solidFill>
                  <a:srgbClr val="C8DEDA"/>
                </a:solidFill>
                <a:latin typeface="Calibri"/>
              </a:rPr>
              <a:t>EC2 y red</a:t>
            </a:r>
          </a:p>
        </p:txBody>
      </p:sp>
      <p:sp>
        <p:nvSpPr>
          <p:cNvPr id="27" name="Rectangle 26"/>
          <p:cNvSpPr/>
          <p:nvPr/>
        </p:nvSpPr>
        <p:spPr>
          <a:xfrm>
            <a:off x="5605272" y="5193792"/>
            <a:ext cx="19050" cy="566928"/>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51576" y="5157216"/>
            <a:ext cx="1463040" cy="274320"/>
          </a:xfrm>
          <a:prstGeom prst="rect">
            <a:avLst/>
          </a:prstGeom>
          <a:noFill/>
        </p:spPr>
        <p:txBody>
          <a:bodyPr wrap="square" anchor="t"/>
          <a:lstStyle/>
          <a:p>
            <a:pPr algn="l"/>
            <a:r>
              <a:rPr sz="1300" b="1">
                <a:solidFill>
                  <a:srgbClr val="FFFFFF"/>
                </a:solidFill>
                <a:latin typeface="Calibri"/>
              </a:rPr>
              <a:t>Skarlett</a:t>
            </a:r>
          </a:p>
        </p:txBody>
      </p:sp>
      <p:sp>
        <p:nvSpPr>
          <p:cNvPr id="29" name="TextBox 28"/>
          <p:cNvSpPr txBox="1"/>
          <p:nvPr/>
        </p:nvSpPr>
        <p:spPr>
          <a:xfrm>
            <a:off x="5751576" y="5431536"/>
            <a:ext cx="1463040" cy="256032"/>
          </a:xfrm>
          <a:prstGeom prst="rect">
            <a:avLst/>
          </a:prstGeom>
          <a:noFill/>
        </p:spPr>
        <p:txBody>
          <a:bodyPr wrap="square" anchor="t"/>
          <a:lstStyle/>
          <a:p>
            <a:pPr algn="l"/>
            <a:r>
              <a:rPr sz="1100" b="0">
                <a:solidFill>
                  <a:srgbClr val="C8DEDA"/>
                </a:solidFill>
                <a:latin typeface="Calibri"/>
              </a:rPr>
              <a:t>React y roles</a:t>
            </a:r>
          </a:p>
        </p:txBody>
      </p:sp>
      <p:sp>
        <p:nvSpPr>
          <p:cNvPr id="30" name="TextBox 29"/>
          <p:cNvSpPr txBox="1"/>
          <p:nvPr/>
        </p:nvSpPr>
        <p:spPr>
          <a:xfrm>
            <a:off x="530352" y="5989320"/>
            <a:ext cx="6766560" cy="274320"/>
          </a:xfrm>
          <a:prstGeom prst="rect">
            <a:avLst/>
          </a:prstGeom>
          <a:noFill/>
        </p:spPr>
        <p:txBody>
          <a:bodyPr wrap="square" anchor="t"/>
          <a:lstStyle/>
          <a:p>
            <a:pPr algn="l"/>
            <a:r>
              <a:rPr sz="1200" b="0">
                <a:solidFill>
                  <a:srgbClr val="2EC4B6"/>
                </a:solidFill>
                <a:latin typeface="Calibri"/>
              </a:rPr>
              <a:t>Docente   Paulo Andrés Berríos Díaz</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66928"/>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384048" y="91440"/>
            <a:ext cx="365760" cy="365760"/>
          </a:xfrm>
          <a:prstGeom prst="rect">
            <a:avLst/>
          </a:prstGeom>
        </p:spPr>
      </p:pic>
      <p:sp>
        <p:nvSpPr>
          <p:cNvPr id="6" name="TextBox 5"/>
          <p:cNvSpPr txBox="1"/>
          <p:nvPr/>
        </p:nvSpPr>
        <p:spPr>
          <a:xfrm>
            <a:off x="868680" y="109728"/>
            <a:ext cx="5486400" cy="365760"/>
          </a:xfrm>
          <a:prstGeom prst="rect">
            <a:avLst/>
          </a:prstGeom>
          <a:noFill/>
        </p:spPr>
        <p:txBody>
          <a:bodyPr wrap="square" anchor="t"/>
          <a:lstStyle/>
          <a:p>
            <a:pPr algn="r"/>
            <a:r>
              <a:rPr sz="1300" b="1">
                <a:solidFill>
                  <a:srgbClr val="0F4C5C"/>
                </a:solidFill>
                <a:latin typeface="Calibri"/>
              </a:rPr>
              <a:t>MESATECH  CLOUD</a:t>
            </a:r>
          </a:p>
        </p:txBody>
      </p:sp>
      <p:sp>
        <p:nvSpPr>
          <p:cNvPr id="7" name="TextBox 6"/>
          <p:cNvSpPr txBox="1"/>
          <p:nvPr/>
        </p:nvSpPr>
        <p:spPr>
          <a:xfrm>
            <a:off x="7863840" y="109728"/>
            <a:ext cx="3931920" cy="365760"/>
          </a:xfrm>
          <a:prstGeom prst="rect">
            <a:avLst/>
          </a:prstGeom>
          <a:noFill/>
        </p:spPr>
        <p:txBody>
          <a:bodyPr wrap="square" anchor="ctr"/>
          <a:lstStyle/>
          <a:p>
            <a:pPr algn="r"/>
            <a:r>
              <a:rPr sz="1200" b="1">
                <a:solidFill>
                  <a:srgbClr val="4A646C"/>
                </a:solidFill>
                <a:latin typeface="Calibri"/>
              </a:rPr>
              <a:t>03 · Registro   ·   Ari</a:t>
            </a:r>
          </a:p>
        </p:txBody>
      </p:sp>
      <p:sp>
        <p:nvSpPr>
          <p:cNvPr id="8" name="TextBox 7"/>
          <p:cNvSpPr txBox="1"/>
          <p:nvPr/>
        </p:nvSpPr>
        <p:spPr>
          <a:xfrm>
            <a:off x="365760" y="731520"/>
            <a:ext cx="11430000" cy="237744"/>
          </a:xfrm>
          <a:prstGeom prst="rect">
            <a:avLst/>
          </a:prstGeom>
          <a:noFill/>
        </p:spPr>
        <p:txBody>
          <a:bodyPr wrap="square" anchor="t"/>
          <a:lstStyle/>
          <a:p>
            <a:pPr algn="l"/>
            <a:r>
              <a:rPr sz="1100" b="1">
                <a:solidFill>
                  <a:srgbClr val="2EC4B6"/>
                </a:solidFill>
                <a:latin typeface="Calibri"/>
              </a:rPr>
              <a:t>MICROSOFT ENTRA ID</a:t>
            </a:r>
          </a:p>
        </p:txBody>
      </p:sp>
      <p:sp>
        <p:nvSpPr>
          <p:cNvPr id="9" name="TextBox 8"/>
          <p:cNvSpPr txBox="1"/>
          <p:nvPr/>
        </p:nvSpPr>
        <p:spPr>
          <a:xfrm>
            <a:off x="365760" y="960120"/>
            <a:ext cx="11430000" cy="777240"/>
          </a:xfrm>
          <a:prstGeom prst="rect">
            <a:avLst/>
          </a:prstGeom>
          <a:noFill/>
        </p:spPr>
        <p:txBody>
          <a:bodyPr wrap="square" anchor="t"/>
          <a:lstStyle/>
          <a:p>
            <a:pPr algn="l"/>
            <a:r>
              <a:rPr sz="2600" b="1">
                <a:solidFill>
                  <a:srgbClr val="0A3843"/>
                </a:solidFill>
                <a:latin typeface="Calibri"/>
              </a:rPr>
              <a:t>Registrar api-cloud-native. Crear el URI.</a:t>
            </a:r>
          </a:p>
        </p:txBody>
      </p:sp>
      <p:sp>
        <p:nvSpPr>
          <p:cNvPr id="10" name="Rounded Rectangle 9"/>
          <p:cNvSpPr/>
          <p:nvPr/>
        </p:nvSpPr>
        <p:spPr>
          <a:xfrm>
            <a:off x="365760"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73952" y="1965960"/>
            <a:ext cx="5349240"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i-consent.png"/>
          <p:cNvPicPr>
            <a:picLocks noChangeAspect="1"/>
          </p:cNvPicPr>
          <p:nvPr/>
        </p:nvPicPr>
        <p:blipFill>
          <a:blip r:embed="rId3"/>
          <a:stretch>
            <a:fillRect/>
          </a:stretch>
        </p:blipFill>
        <p:spPr>
          <a:xfrm>
            <a:off x="502920" y="2400860"/>
            <a:ext cx="5074920" cy="2522621"/>
          </a:xfrm>
          <a:prstGeom prst="rect">
            <a:avLst/>
          </a:prstGeom>
        </p:spPr>
      </p:pic>
      <p:pic>
        <p:nvPicPr>
          <p:cNvPr id="13" name="Picture 12" descr="ari-roles.png"/>
          <p:cNvPicPr>
            <a:picLocks noChangeAspect="1"/>
          </p:cNvPicPr>
          <p:nvPr/>
        </p:nvPicPr>
        <p:blipFill>
          <a:blip r:embed="rId4"/>
          <a:stretch>
            <a:fillRect/>
          </a:stretch>
        </p:blipFill>
        <p:spPr>
          <a:xfrm>
            <a:off x="6611112" y="2452796"/>
            <a:ext cx="5074920" cy="2418748"/>
          </a:xfrm>
          <a:prstGeom prst="rect">
            <a:avLst/>
          </a:prstGeom>
        </p:spPr>
      </p:pic>
      <p:sp>
        <p:nvSpPr>
          <p:cNvPr id="14" name="Rectangle 13"/>
          <p:cNvSpPr/>
          <p:nvPr/>
        </p:nvSpPr>
        <p:spPr>
          <a:xfrm>
            <a:off x="365760"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6291072"/>
            <a:ext cx="5202936" cy="384048"/>
          </a:xfrm>
          <a:prstGeom prst="rect">
            <a:avLst/>
          </a:prstGeom>
          <a:noFill/>
        </p:spPr>
        <p:txBody>
          <a:bodyPr wrap="square" anchor="t"/>
          <a:lstStyle/>
          <a:p>
            <a:pPr algn="l"/>
            <a:r>
              <a:rPr sz="1100" b="0">
                <a:solidFill>
                  <a:srgbClr val="4A646C"/>
                </a:solidFill>
                <a:latin typeface="Calibri"/>
              </a:rPr>
              <a:t>Formulario de registro. Nombre api-cloud-native. Un solo inquilino. Sin URI de redirección.</a:t>
            </a:r>
          </a:p>
        </p:txBody>
      </p:sp>
      <p:sp>
        <p:nvSpPr>
          <p:cNvPr id="16" name="Rectangle 15"/>
          <p:cNvSpPr/>
          <p:nvPr/>
        </p:nvSpPr>
        <p:spPr>
          <a:xfrm>
            <a:off x="6473952" y="6291072"/>
            <a:ext cx="73152" cy="310896"/>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6291072"/>
            <a:ext cx="5202936" cy="384048"/>
          </a:xfrm>
          <a:prstGeom prst="rect">
            <a:avLst/>
          </a:prstGeom>
          <a:noFill/>
        </p:spPr>
        <p:txBody>
          <a:bodyPr wrap="square" anchor="t"/>
          <a:lstStyle/>
          <a:p>
            <a:pPr algn="l"/>
            <a:r>
              <a:rPr sz="1100" b="0">
                <a:solidFill>
                  <a:srgbClr val="4A646C"/>
                </a:solidFill>
                <a:latin typeface="Calibri"/>
              </a:rPr>
              <a:t>URI de id. de aplicación: api:// más el Id. de aplicación. Prefijo de los scopes.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