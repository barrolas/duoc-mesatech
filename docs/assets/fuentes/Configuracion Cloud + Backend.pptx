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</p:sldIdLst>
  <p:sldSz cy="5143500" cx="9144000"/>
  <p:notesSz cx="6858000" cy="9144000"/>
  <p:embeddedFontLst>
    <p:embeddedFont>
      <p:font typeface="Roboto Mono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font" Target="fonts/RobotoMono-regular.fntdata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font" Target="fonts/RobotoMono-italic.fntdata"/><Relationship Id="rId14" Type="http://schemas.openxmlformats.org/officeDocument/2006/relationships/slide" Target="slides/slide9.xml"/><Relationship Id="rId36" Type="http://schemas.openxmlformats.org/officeDocument/2006/relationships/font" Target="fonts/RobotoMono-bold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38" Type="http://schemas.openxmlformats.org/officeDocument/2006/relationships/font" Target="fonts/RobotoMono-bold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fb40ad58d4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fb40ad58d4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fb40ad58d4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fb40ad58d4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fb40ad58d4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fb40ad58d4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fb40ad58d4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fb40ad58d4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fb40ad58d4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fb40ad58d4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fb40ad58d4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fb40ad58d4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fb40ad58d4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fb40ad58d4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b40ad58d4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fb40ad58d4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fb40ad58d4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fb40ad58d4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fb40ad58d4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fb40ad58d4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fb40ad58d4_0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fb40ad58d4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fb40ad58d4_0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fb40ad58d4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fb40ad58d4_0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fb40ad58d4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fb40ad58d4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fb40ad58d4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fb40ad58d4_0_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fb40ad58d4_0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fb40ad58d4_0_1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fb40ad58d4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fb40ad58d4_0_1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fb40ad58d4_0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fb40ad58d4_0_1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fb40ad58d4_0_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fb40ad58d4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fb40ad58d4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fb40ad58d4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fb40ad58d4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fb40ad58d4_0_2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fb40ad58d4_0_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fb40ad58d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fb40ad58d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fb40ad58d4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fb40ad58d4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fb40ad58d4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fb40ad58d4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fb40ad58d4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fb40ad58d4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fb40ad58d4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3fb40ad58d4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fb40ad58d4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3fb40ad58d4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fb40ad58d4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fb40ad58d4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github.com/pauloberrios44/backend-springboot-jwt.git" TargetMode="External"/><Relationship Id="rId4" Type="http://schemas.openxmlformats.org/officeDocument/2006/relationships/hyperlink" Target="https://github.com/pauloberrios44/dfs-s3-login-1.git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0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s://docs.google.com/document/d/13jhQRcs3-ZLInbuYMxPujhQXx9PykdXE-Oe1XsBHjRI/edit?usp=sharing" TargetMode="External"/><Relationship Id="rId4" Type="http://schemas.openxmlformats.org/officeDocument/2006/relationships/image" Target="../media/image2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hyperlink" Target="https://docs.google.com/document/d/1JHuMEo99-aJNk1paKJt3iVwkEuYk-Ja1u3LnpSS3yPM/edit?usp=sharing" TargetMode="Externa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hyperlink" Target="http://authconfig.js" TargetMode="Externa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3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hyperlink" Target="https://github.com/pauloberrios44/dfs-s3-login-1" TargetMode="Externa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Configuración</a:t>
            </a:r>
            <a:r>
              <a:rPr lang="es"/>
              <a:t> Backend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148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Spring </a:t>
            </a:r>
            <a:r>
              <a:rPr lang="es"/>
              <a:t>Security</a:t>
            </a:r>
            <a:r>
              <a:rPr lang="es"/>
              <a:t> y oAuth2 Resource Server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Esta PPT le entregará las bases para que usted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estudie lo presentado y pueda aplicarlo en su proyecto a evaluar</a:t>
            </a:r>
            <a:endParaRPr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Resumen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En su tenant, debe registrar nueva </a:t>
            </a:r>
            <a:r>
              <a:rPr lang="es"/>
              <a:t>aplicación</a:t>
            </a:r>
            <a:r>
              <a:rPr lang="es"/>
              <a:t> web llamada “api-cloud-native”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Cree un spring boot con las dependencias y ejemplos de </a:t>
            </a:r>
            <a:r>
              <a:rPr lang="es"/>
              <a:t>código</a:t>
            </a:r>
            <a:r>
              <a:rPr lang="es"/>
              <a:t> indicado en esta ppt, estudie el </a:t>
            </a:r>
            <a:r>
              <a:rPr lang="es"/>
              <a:t>código</a:t>
            </a:r>
            <a:r>
              <a:rPr lang="es"/>
              <a:t> y </a:t>
            </a:r>
            <a:r>
              <a:rPr lang="es"/>
              <a:t>aplicarlo</a:t>
            </a:r>
            <a:r>
              <a:rPr lang="es"/>
              <a:t> a su </a:t>
            </a:r>
            <a:r>
              <a:rPr lang="es"/>
              <a:t>solución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Configure su front con Axios. Estudie el ejemplo entregado en </a:t>
            </a:r>
            <a:r>
              <a:rPr lang="es"/>
              <a:t>github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Estudie. Use los conceptos indicados para su proyecto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Repositorios de ejemplo (debe registrar </a:t>
            </a:r>
            <a:r>
              <a:rPr b="1" lang="es"/>
              <a:t>sus id inquilino y aplicación</a:t>
            </a:r>
            <a:r>
              <a:rPr lang="es"/>
              <a:t>)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backend: </a:t>
            </a:r>
            <a:r>
              <a:rPr lang="es" sz="1400" u="sng">
                <a:solidFill>
                  <a:schemeClr val="hlink"/>
                </a:solidFill>
                <a:hlinkClick r:id="rId3"/>
              </a:rPr>
              <a:t>https://github.com/pauloberrios44/backend-springboot-jwt.git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Front: </a:t>
            </a:r>
            <a:r>
              <a:rPr lang="es" u="sng">
                <a:solidFill>
                  <a:schemeClr val="hlink"/>
                </a:solidFill>
                <a:hlinkClick r:id="rId4"/>
              </a:rPr>
              <a:t>https://github.com/pauloberrios44/dfs-s3-login-1.git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Registrar nueva aplicacion para la API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8850" y="1226623"/>
            <a:ext cx="7317773" cy="3268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Crear nuevo registro. Nombre y presione registrar</a:t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5" name="Google Shape;7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2622" y="1152474"/>
            <a:ext cx="7417330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Exponga la API</a:t>
            </a:r>
            <a:endParaRPr/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2" name="Google Shape;8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9563" y="1152476"/>
            <a:ext cx="7543236" cy="3416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Cree un nuevo id de </a:t>
            </a:r>
            <a:r>
              <a:rPr lang="es"/>
              <a:t>aplicación. Clic en “guardar”</a:t>
            </a:r>
            <a:endParaRPr/>
          </a:p>
        </p:txBody>
      </p:sp>
      <p:sp>
        <p:nvSpPr>
          <p:cNvPr id="88" name="Google Shape;88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9" name="Google Shape;8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23452" y="1152475"/>
            <a:ext cx="5510026" cy="3599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Crear ambito</a:t>
            </a:r>
            <a:endParaRPr/>
          </a:p>
        </p:txBody>
      </p:sp>
      <p:sp>
        <p:nvSpPr>
          <p:cNvPr id="95" name="Google Shape;95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6" name="Google Shape;9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9411" y="1152474"/>
            <a:ext cx="7954563" cy="3416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Agregue lo siguiente</a:t>
            </a:r>
            <a:endParaRPr/>
          </a:p>
        </p:txBody>
      </p:sp>
      <p:sp>
        <p:nvSpPr>
          <p:cNvPr id="102" name="Google Shape;102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Click en Agregar ambito luego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de ingresar los datos</a:t>
            </a:r>
            <a:endParaRPr/>
          </a:p>
        </p:txBody>
      </p:sp>
      <p:pic>
        <p:nvPicPr>
          <p:cNvPr id="103" name="Google Shape;10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75270" y="0"/>
            <a:ext cx="5019410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Agréguese</a:t>
            </a:r>
            <a:r>
              <a:rPr lang="es"/>
              <a:t> como propietario</a:t>
            </a:r>
            <a:endParaRPr/>
          </a:p>
        </p:txBody>
      </p:sp>
      <p:sp>
        <p:nvSpPr>
          <p:cNvPr id="109" name="Google Shape;109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0" name="Google Shape;11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2752" y="1017725"/>
            <a:ext cx="6750322" cy="4125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Seleccione propietario (su cuenta principal)</a:t>
            </a:r>
            <a:endParaRPr/>
          </a:p>
        </p:txBody>
      </p:sp>
      <p:sp>
        <p:nvSpPr>
          <p:cNvPr id="116" name="Google Shape;116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7" name="Google Shape;11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32625" y="1152476"/>
            <a:ext cx="6122151" cy="3279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Propietario OK registrado</a:t>
            </a:r>
            <a:endParaRPr/>
          </a:p>
        </p:txBody>
      </p:sp>
      <p:sp>
        <p:nvSpPr>
          <p:cNvPr id="123" name="Google Shape;123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4" name="Google Shape;12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2249" y="1152476"/>
            <a:ext cx="8151753" cy="3231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Otorgar permiso a api expuesta para recibir JWT</a:t>
            </a:r>
            <a:endParaRPr/>
          </a:p>
        </p:txBody>
      </p:sp>
      <p:sp>
        <p:nvSpPr>
          <p:cNvPr id="130" name="Google Shape;130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10300" y="1221952"/>
            <a:ext cx="7622002" cy="3277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Agregar permiso</a:t>
            </a:r>
            <a:endParaRPr/>
          </a:p>
        </p:txBody>
      </p:sp>
      <p:sp>
        <p:nvSpPr>
          <p:cNvPr id="137" name="Google Shape;137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8" name="Google Shape;138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84576" y="1214550"/>
            <a:ext cx="6030250" cy="3928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Asigne permisos delegados</a:t>
            </a:r>
            <a:endParaRPr/>
          </a:p>
        </p:txBody>
      </p:sp>
      <p:sp>
        <p:nvSpPr>
          <p:cNvPr id="144" name="Google Shape;144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5" name="Google Shape;14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82722" y="1152475"/>
            <a:ext cx="5578549" cy="3991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Seleccione api expuesta y botón agregar permiso</a:t>
            </a:r>
            <a:endParaRPr/>
          </a:p>
        </p:txBody>
      </p:sp>
      <p:sp>
        <p:nvSpPr>
          <p:cNvPr id="151" name="Google Shape;151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2" name="Google Shape;152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47127" y="1098300"/>
            <a:ext cx="5649750" cy="412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Activar consentimiento</a:t>
            </a:r>
            <a:endParaRPr/>
          </a:p>
        </p:txBody>
      </p:sp>
      <p:sp>
        <p:nvSpPr>
          <p:cNvPr id="158" name="Google Shape;158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9" name="Google Shape;159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0953" y="1114498"/>
            <a:ext cx="7702096" cy="3492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Consentimiento OK</a:t>
            </a:r>
            <a:endParaRPr/>
          </a:p>
        </p:txBody>
      </p:sp>
      <p:sp>
        <p:nvSpPr>
          <p:cNvPr id="165" name="Google Shape;165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66" name="Google Shape;166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0000" y="1319775"/>
            <a:ext cx="8362300" cy="3577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Cambiar a </a:t>
            </a:r>
            <a:r>
              <a:rPr lang="es"/>
              <a:t>versión</a:t>
            </a:r>
            <a:r>
              <a:rPr lang="es"/>
              <a:t> token versión 2</a:t>
            </a:r>
            <a:endParaRPr/>
          </a:p>
        </p:txBody>
      </p:sp>
      <p:sp>
        <p:nvSpPr>
          <p:cNvPr id="172" name="Google Shape;172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73" name="Google Shape;173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69162" y="1152475"/>
            <a:ext cx="6605667" cy="3991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Manifiesto cambiado correctamente</a:t>
            </a:r>
            <a:endParaRPr/>
          </a:p>
        </p:txBody>
      </p:sp>
      <p:sp>
        <p:nvSpPr>
          <p:cNvPr id="179" name="Google Shape;179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80" name="Google Shape;180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3239" y="1152475"/>
            <a:ext cx="7577522" cy="3578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Realizar </a:t>
            </a:r>
            <a:r>
              <a:rPr lang="es"/>
              <a:t>exposición</a:t>
            </a:r>
            <a:r>
              <a:rPr lang="es"/>
              <a:t> y permisos API</a:t>
            </a:r>
            <a:endParaRPr/>
          </a:p>
        </p:txBody>
      </p:sp>
      <p:sp>
        <p:nvSpPr>
          <p:cNvPr id="186" name="Google Shape;186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87" name="Google Shape;187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0850" y="1246551"/>
            <a:ext cx="8011452" cy="3774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Cuidar uso de access token v2. Cambie</a:t>
            </a:r>
            <a:endParaRPr/>
          </a:p>
        </p:txBody>
      </p:sp>
      <p:sp>
        <p:nvSpPr>
          <p:cNvPr id="193" name="Google Shape;193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94" name="Google Shape;194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2800" y="1268399"/>
            <a:ext cx="8239749" cy="3712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Checkpoint</a:t>
            </a:r>
            <a:endParaRPr/>
          </a:p>
        </p:txBody>
      </p:sp>
      <p:sp>
        <p:nvSpPr>
          <p:cNvPr id="200" name="Google Shape;200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lo anterior le permitirá usar el ID de aplicacion en su aplicación react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El Spring Boot que preparará usa token version 2.0, por tanto es importante cambiar el manifiesto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Debe </a:t>
            </a:r>
            <a:r>
              <a:rPr b="1" lang="es" u="sng"/>
              <a:t>estudiar</a:t>
            </a:r>
            <a:r>
              <a:rPr b="1" lang="es"/>
              <a:t> </a:t>
            </a:r>
            <a:r>
              <a:rPr lang="es"/>
              <a:t>su uso mediante los proximos pasos de esta PPT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Configuración nuevo Spring Boot</a:t>
            </a:r>
            <a:endParaRPr/>
          </a:p>
        </p:txBody>
      </p:sp>
      <p:pic>
        <p:nvPicPr>
          <p:cNvPr id="206" name="Google Shape;206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6788" y="1017725"/>
            <a:ext cx="7210423" cy="3551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application.properties</a:t>
            </a:r>
            <a:endParaRPr/>
          </a:p>
        </p:txBody>
      </p:sp>
      <p:sp>
        <p:nvSpPr>
          <p:cNvPr id="212" name="Google Shape;212;p36"/>
          <p:cNvSpPr txBox="1"/>
          <p:nvPr>
            <p:ph idx="1" type="body"/>
          </p:nvPr>
        </p:nvSpPr>
        <p:spPr>
          <a:xfrm>
            <a:off x="311700" y="1152475"/>
            <a:ext cx="5373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server.port=8080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# Id. de directorio (inquilino)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spring.security.oauth2.resourceserver.jwt.issuer-uri=https://login.microsoftonline.com/ba9c3522-adab-4c57-ac78-dc6131594e07/v2.0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# Desde Exponer API: Ámbitos definidos por esta API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spring.security.oauth2.resourceserver.jwt.audiences=c639b2a3-10c3-4611-b3c8-8acb71c2afc6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# Agregar config de MySQL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# en: https://docs.google.com/document/d/1GCu7jJi-_xCzwbUTPQzGzqG9ETramHho1bvVawHBW0I/edit?usp=sharing</a:t>
            </a:r>
            <a:endParaRPr/>
          </a:p>
        </p:txBody>
      </p:sp>
      <p:sp>
        <p:nvSpPr>
          <p:cNvPr id="213" name="Google Shape;213;p36"/>
          <p:cNvSpPr txBox="1"/>
          <p:nvPr/>
        </p:nvSpPr>
        <p:spPr>
          <a:xfrm>
            <a:off x="5949273" y="1690825"/>
            <a:ext cx="30000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iss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└── token emitido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    por nuestro tenant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aud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└── token destinado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    a api-cloud-native</a:t>
            </a:r>
            <a:endParaRPr/>
          </a:p>
        </p:txBody>
      </p:sp>
      <p:sp>
        <p:nvSpPr>
          <p:cNvPr id="214" name="Google Shape;214;p36"/>
          <p:cNvSpPr txBox="1"/>
          <p:nvPr/>
        </p:nvSpPr>
        <p:spPr>
          <a:xfrm>
            <a:off x="5868673" y="115417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Aquí Spring verificará: 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Crear SecurityConfig.java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37"/>
          <p:cNvSpPr txBox="1"/>
          <p:nvPr>
            <p:ph idx="1" type="body"/>
          </p:nvPr>
        </p:nvSpPr>
        <p:spPr>
          <a:xfrm>
            <a:off x="311700" y="1152475"/>
            <a:ext cx="5199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Crear Package con nombre “Config”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Crear Java class llamado </a:t>
            </a:r>
            <a:r>
              <a:rPr lang="es"/>
              <a:t>SecurityConfig.java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Usar el siguiente código: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u="sng">
                <a:solidFill>
                  <a:schemeClr val="hlink"/>
                </a:solidFill>
                <a:hlinkClick r:id="rId3"/>
              </a:rPr>
              <a:t>https://docs.google.com/document/d/13jhQRcs3-ZLInbuYMxPujhQXx9PykdXE-Oe1XsBHjRI/edit?usp=sharing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El JWT desde Entra ID llegará como: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{ "scp": "access_as_user" }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Spring Security automáticamente transforma access_as_user en SCOPE_access_as_user</a:t>
            </a:r>
            <a:endParaRPr/>
          </a:p>
        </p:txBody>
      </p:sp>
      <p:pic>
        <p:nvPicPr>
          <p:cNvPr id="221" name="Google Shape;221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36250" y="1576850"/>
            <a:ext cx="3328500" cy="19898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Crear dos controller: </a:t>
            </a:r>
            <a:r>
              <a:rPr lang="es"/>
              <a:t>Público</a:t>
            </a:r>
            <a:r>
              <a:rPr lang="es"/>
              <a:t> y uno protegido con JWT</a:t>
            </a:r>
            <a:endParaRPr/>
          </a:p>
        </p:txBody>
      </p:sp>
      <p:sp>
        <p:nvSpPr>
          <p:cNvPr id="227" name="Google Shape;227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Crear controller PublicController con /public/hola y devolver respuesta de tipo Map&lt;String, String&gt;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Crear controller UsuarioController /api/usuario protegido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Codigo ejemplo en: </a:t>
            </a:r>
            <a:r>
              <a:rPr lang="es" u="sng">
                <a:solidFill>
                  <a:schemeClr val="hlink"/>
                </a:solidFill>
                <a:hlinkClick r:id="rId3"/>
              </a:rPr>
              <a:t>https://docs.google.com/document/d/1JHuMEo99-aJNk1paKJt3iVwkEuYk-Ja1u3LnpSS3yPM/edit?usp=sharing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React: </a:t>
            </a:r>
            <a:r>
              <a:rPr lang="es"/>
              <a:t>Instalación</a:t>
            </a:r>
            <a:r>
              <a:rPr lang="es"/>
              <a:t> de Axios</a:t>
            </a:r>
            <a:endParaRPr/>
          </a:p>
        </p:txBody>
      </p:sp>
      <p:sp>
        <p:nvSpPr>
          <p:cNvPr id="233" name="Google Shape;233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s"/>
              <a:t>npm install axios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s"/>
              <a:t>en </a:t>
            </a:r>
            <a:r>
              <a:rPr lang="es" u="sng">
                <a:solidFill>
                  <a:schemeClr val="hlink"/>
                </a:solidFill>
                <a:hlinkClick r:id="rId3"/>
              </a:rPr>
              <a:t>authConfig.js</a:t>
            </a:r>
            <a:r>
              <a:rPr lang="es"/>
              <a:t>, agregar la api expuesta en Entra ID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565">
                <a:latin typeface="Roboto Mono"/>
                <a:ea typeface="Roboto Mono"/>
                <a:cs typeface="Roboto Mono"/>
                <a:sym typeface="Roboto Mono"/>
              </a:rPr>
              <a:t>export const apiRequest = {</a:t>
            </a:r>
            <a:endParaRPr b="1" sz="1565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565">
                <a:latin typeface="Roboto Mono"/>
                <a:ea typeface="Roboto Mono"/>
                <a:cs typeface="Roboto Mono"/>
                <a:sym typeface="Roboto Mono"/>
              </a:rPr>
              <a:t>    scopes: [</a:t>
            </a:r>
            <a:endParaRPr b="1" sz="1565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565">
                <a:latin typeface="Roboto Mono"/>
                <a:ea typeface="Roboto Mono"/>
                <a:cs typeface="Roboto Mono"/>
                <a:sym typeface="Roboto Mono"/>
              </a:rPr>
              <a:t>        "api://c639b2a3-10c3-4611-b3c8-8acb71c2afc6/access_as_user"</a:t>
            </a:r>
            <a:endParaRPr b="1" sz="1565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565">
                <a:latin typeface="Roboto Mono"/>
                <a:ea typeface="Roboto Mono"/>
                <a:cs typeface="Roboto Mono"/>
                <a:sym typeface="Roboto Mono"/>
              </a:rPr>
              <a:t>    ]};</a:t>
            </a:r>
            <a:endParaRPr b="1" sz="1565">
              <a:latin typeface="Roboto Mono"/>
              <a:ea typeface="Roboto Mono"/>
              <a:cs typeface="Roboto Mono"/>
              <a:sym typeface="Roboto Mono"/>
            </a:endParaRPr>
          </a:p>
          <a:p>
            <a:pPr indent="-325755" lvl="0" marL="457200" rtl="0" algn="l">
              <a:spcBef>
                <a:spcPts val="1200"/>
              </a:spcBef>
              <a:spcAft>
                <a:spcPts val="0"/>
              </a:spcAft>
              <a:buSzPct val="100000"/>
              <a:buAutoNum type="arabicPeriod"/>
            </a:pPr>
            <a:r>
              <a:rPr lang="es"/>
              <a:t>Usaremos useEffect para obtener el access token cuando tengamos un cambio en accounts y/o instance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s"/>
              <a:t>Usaremos useState para declarar variables y registrar los datos obtenidos desde Entra ID y cuando consultemos nuestra api protegida en Spring Boot (usando axios)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Lo anterior ejecutará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lo siguiente</a:t>
            </a:r>
            <a:endParaRPr/>
          </a:p>
        </p:txBody>
      </p:sp>
      <p:pic>
        <p:nvPicPr>
          <p:cNvPr id="239" name="Google Shape;239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7875" y="205788"/>
            <a:ext cx="3786899" cy="4731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Código</a:t>
            </a:r>
            <a:r>
              <a:rPr lang="es"/>
              <a:t> en github</a:t>
            </a:r>
            <a:endParaRPr/>
          </a:p>
        </p:txBody>
      </p:sp>
      <p:sp>
        <p:nvSpPr>
          <p:cNvPr id="245" name="Google Shape;245;p4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u="sng">
                <a:solidFill>
                  <a:schemeClr val="hlink"/>
                </a:solidFill>
                <a:hlinkClick r:id="rId3"/>
              </a:rPr>
              <a:t>https://github.com/pauloberrios44/dfs-s3-login-1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46" name="Google Shape;246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73363" y="1868221"/>
            <a:ext cx="2997274" cy="2963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